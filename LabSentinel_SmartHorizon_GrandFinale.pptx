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6"/>
  </p:notesMasterIdLst>
  <p:sldIdLst>
    <p:sldId id="270" r:id="rId2"/>
    <p:sldId id="263" r:id="rId3"/>
    <p:sldId id="275" r:id="rId4"/>
    <p:sldId id="264" r:id="rId5"/>
    <p:sldId id="276" r:id="rId6"/>
    <p:sldId id="274" r:id="rId7"/>
    <p:sldId id="265" r:id="rId8"/>
    <p:sldId id="266" r:id="rId9"/>
    <p:sldId id="267" r:id="rId10"/>
    <p:sldId id="271" r:id="rId11"/>
    <p:sldId id="272" r:id="rId12"/>
    <p:sldId id="273" r:id="rId13"/>
    <p:sldId id="269" r:id="rId14"/>
    <p:sldId id="268" r:id="rId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0" autoAdjust="0"/>
    <p:restoredTop sz="94641" autoAdjust="0"/>
  </p:normalViewPr>
  <p:slideViewPr>
    <p:cSldViewPr>
      <p:cViewPr varScale="1">
        <p:scale>
          <a:sx n="92" d="100"/>
          <a:sy n="92" d="100"/>
        </p:scale>
        <p:origin x="672" y="78"/>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96F83-55EB-44FB-A6B6-44ED4DFC9222}" type="datetimeFigureOut">
              <a:rPr lang="en-US" smtClean="0"/>
              <a:pPr/>
              <a:t>8/31/2026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3C1A974-C3F6-467E-A719-7F0890CE629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8D8F02-B8A6-4879-A35B-185A64064778}"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rotWithShape="1">
          <a:blip r:embed="rId2" cstate="print"/>
          <a:srcRect l="8776" r="12248" b="5973"/>
          <a:stretch/>
        </p:blipFill>
        <p:spPr>
          <a:xfrm>
            <a:off x="791617" y="168741"/>
            <a:ext cx="1189583" cy="498009"/>
          </a:xfrm>
          <a:prstGeom prst="rect">
            <a:avLst/>
          </a:prstGeom>
        </p:spPr>
      </p:pic>
      <p:pic>
        <p:nvPicPr>
          <p:cNvPr id="8" name="Image 1" descr="preencoded.png"/>
          <p:cNvPicPr>
            <a:picLocks noChangeAspect="1"/>
          </p:cNvPicPr>
          <p:nvPr userDrawn="1"/>
        </p:nvPicPr>
        <p:blipFill rotWithShape="1">
          <a:blip r:embed="rId3" cstate="print"/>
          <a:srcRect l="21941" t="15700" r="20440" b="5258"/>
          <a:stretch/>
        </p:blipFill>
        <p:spPr>
          <a:xfrm>
            <a:off x="3255791" y="209549"/>
            <a:ext cx="457200" cy="457201"/>
          </a:xfrm>
          <a:prstGeom prst="rect">
            <a:avLst/>
          </a:prstGeom>
        </p:spPr>
      </p:pic>
      <p:pic>
        <p:nvPicPr>
          <p:cNvPr id="9" name="Image 2" descr="preencoded.png"/>
          <p:cNvPicPr>
            <a:picLocks noChangeAspect="1"/>
          </p:cNvPicPr>
          <p:nvPr userDrawn="1"/>
        </p:nvPicPr>
        <p:blipFill>
          <a:blip r:embed="rId4" cstate="print"/>
          <a:stretch>
            <a:fillRect/>
          </a:stretch>
        </p:blipFill>
        <p:spPr>
          <a:xfrm>
            <a:off x="4987582" y="168741"/>
            <a:ext cx="655032" cy="491772"/>
          </a:xfrm>
          <a:prstGeom prst="rect">
            <a:avLst/>
          </a:prstGeom>
        </p:spPr>
      </p:pic>
      <p:pic>
        <p:nvPicPr>
          <p:cNvPr id="10" name="Image 3" descr="preencoded.png"/>
          <p:cNvPicPr>
            <a:picLocks noChangeAspect="1"/>
          </p:cNvPicPr>
          <p:nvPr userDrawn="1"/>
        </p:nvPicPr>
        <p:blipFill>
          <a:blip r:embed="rId5" cstate="print"/>
          <a:stretch>
            <a:fillRect/>
          </a:stretch>
        </p:blipFill>
        <p:spPr>
          <a:xfrm>
            <a:off x="6917205" y="168741"/>
            <a:ext cx="985905" cy="49113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6C8645-0AAE-46EA-9B87-9DCAAC54DBF6}"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1CD488-A5AA-4A9C-8A0D-81D20A346185}"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BAF2CFD-23DE-40AF-8834-AA971663E69D}"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FB614F7-7E8B-4795-932F-CCC9EB7C1F92}" type="datetime3">
              <a:rPr lang="en-US" smtClean="0"/>
              <a:t>31 August 2026</a:t>
            </a:fld>
            <a:endParaRPr lang="en-US"/>
          </a:p>
        </p:txBody>
      </p:sp>
      <p:sp>
        <p:nvSpPr>
          <p:cNvPr id="8" name="Footer Placeholder 7"/>
          <p:cNvSpPr>
            <a:spLocks noGrp="1"/>
          </p:cNvSpPr>
          <p:nvPr>
            <p:ph type="ftr" sz="quarter" idx="11"/>
          </p:nvPr>
        </p:nvSpPr>
        <p:spPr/>
        <p:txBody>
          <a:bodyPr/>
          <a:lstStyle/>
          <a:p>
            <a:r>
              <a:rPr lang="en-US" smtClean="0"/>
              <a:t>Smart Horizon 2026: 48 Hour International Hackathon</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7776F2C-25F0-46B7-90CC-F0982DBB91DA}" type="datetime3">
              <a:rPr lang="en-US" smtClean="0"/>
              <a:t>31 August 2026</a:t>
            </a:fld>
            <a:endParaRPr lang="en-US"/>
          </a:p>
        </p:txBody>
      </p:sp>
      <p:sp>
        <p:nvSpPr>
          <p:cNvPr id="4" name="Footer Placeholder 3"/>
          <p:cNvSpPr>
            <a:spLocks noGrp="1"/>
          </p:cNvSpPr>
          <p:nvPr>
            <p:ph type="ftr" sz="quarter" idx="11"/>
          </p:nvPr>
        </p:nvSpPr>
        <p:spPr/>
        <p:txBody>
          <a:bodyPr/>
          <a:lstStyle/>
          <a:p>
            <a:r>
              <a:rPr lang="en-US" smtClean="0"/>
              <a:t>Smart Horizon 2026: 48 Hour International Hackathon</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C80B4-98CE-4B86-8BB8-F1A726332D0B}" type="datetime3">
              <a:rPr lang="en-US" smtClean="0"/>
              <a:t>31 August 2026</a:t>
            </a:fld>
            <a:endParaRPr lang="en-US"/>
          </a:p>
        </p:txBody>
      </p:sp>
      <p:sp>
        <p:nvSpPr>
          <p:cNvPr id="3" name="Footer Placeholder 2"/>
          <p:cNvSpPr>
            <a:spLocks noGrp="1"/>
          </p:cNvSpPr>
          <p:nvPr>
            <p:ph type="ftr" sz="quarter" idx="11"/>
          </p:nvPr>
        </p:nvSpPr>
        <p:spPr/>
        <p:txBody>
          <a:bodyPr/>
          <a:lstStyle/>
          <a:p>
            <a:r>
              <a:rPr lang="en-US" smtClean="0"/>
              <a:t>Smart Horizon 2026: 48 Hour International Hackathon</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pic>
        <p:nvPicPr>
          <p:cNvPr id="6" name="Image 0" descr="preencoded.png"/>
          <p:cNvPicPr>
            <a:picLocks noChangeAspect="1"/>
          </p:cNvPicPr>
          <p:nvPr userDrawn="1"/>
        </p:nvPicPr>
        <p:blipFill>
          <a:blip r:embed="rId2" cstate="print"/>
          <a:stretch>
            <a:fillRect/>
          </a:stretch>
        </p:blipFill>
        <p:spPr>
          <a:xfrm>
            <a:off x="7543800" y="205979"/>
            <a:ext cx="1778000" cy="5334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73D1ED4-391A-4B7E-8EFC-1A7FD912E90A}"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42A3ADC-2D85-4C99-BC97-116048DC93F0}" type="datetime3">
              <a:rPr lang="en-US" smtClean="0"/>
              <a:t>31 August 2026</a:t>
            </a:fld>
            <a:endParaRPr lang="en-US"/>
          </a:p>
        </p:txBody>
      </p:sp>
      <p:sp>
        <p:nvSpPr>
          <p:cNvPr id="6" name="Footer Placeholder 5"/>
          <p:cNvSpPr>
            <a:spLocks noGrp="1"/>
          </p:cNvSpPr>
          <p:nvPr>
            <p:ph type="ftr" sz="quarter" idx="11"/>
          </p:nvPr>
        </p:nvSpPr>
        <p:spPr/>
        <p:txBody>
          <a:bodyPr/>
          <a:lstStyle/>
          <a:p>
            <a:r>
              <a:rPr lang="en-US" smtClean="0"/>
              <a:t>Smart Horizon 2026: 48 Hour International Hackathon</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244C271-B0CA-4176-BE6B-23E60CA82DEC}"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821DAB-4D50-444A-82CD-4417F18812DB}" type="datetime3">
              <a:rPr lang="en-US" smtClean="0"/>
              <a:t>31 August 2026</a:t>
            </a:fld>
            <a:endParaRPr lang="en-US"/>
          </a:p>
        </p:txBody>
      </p:sp>
      <p:sp>
        <p:nvSpPr>
          <p:cNvPr id="5" name="Footer Placeholder 4"/>
          <p:cNvSpPr>
            <a:spLocks noGrp="1"/>
          </p:cNvSpPr>
          <p:nvPr>
            <p:ph type="ftr" sz="quarter" idx="11"/>
          </p:nvPr>
        </p:nvSpPr>
        <p:spPr/>
        <p:txBody>
          <a:bodyPr/>
          <a:lstStyle/>
          <a:p>
            <a:r>
              <a:rPr lang="en-US" smtClean="0"/>
              <a:t>Smart Horizon 2026: 48 Hour International Hackathon</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B391C04-3B30-4C70-8E83-D2356E1EFC87}" type="datetime3">
              <a:rPr lang="en-US" smtClean="0"/>
              <a:t>31 August 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Smart Horizon 2026: 48 Hour International Hackathon</a:t>
            </a: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p:cNvSpPr/>
          <p:nvPr/>
        </p:nvSpPr>
        <p:spPr>
          <a:xfrm>
            <a:off x="2579492" y="990156"/>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6" name="Text 1"/>
          <p:cNvSpPr/>
          <p:nvPr/>
        </p:nvSpPr>
        <p:spPr>
          <a:xfrm>
            <a:off x="4694711" y="962398"/>
            <a:ext cx="1883941" cy="117277"/>
          </a:xfrm>
          <a:prstGeom prst="rect">
            <a:avLst/>
          </a:prstGeom>
          <a:noFill/>
          <a:ln/>
        </p:spPr>
        <p:txBody>
          <a:bodyPr wrap="none" lIns="0" tIns="0" rIns="0" bIns="0" rtlCol="0" anchor="t"/>
          <a:lstStyle/>
          <a:p>
            <a:pPr defTabSz="640048">
              <a:lnSpc>
                <a:spcPts val="1015"/>
              </a:lnSpc>
            </a:pPr>
            <a:endParaRPr lang="en-US" sz="800" dirty="0">
              <a:solidFill>
                <a:prstClr val="black"/>
              </a:solidFill>
            </a:endParaRPr>
          </a:p>
        </p:txBody>
      </p:sp>
      <p:sp>
        <p:nvSpPr>
          <p:cNvPr id="8" name="Text 3"/>
          <p:cNvSpPr/>
          <p:nvPr/>
        </p:nvSpPr>
        <p:spPr>
          <a:xfrm>
            <a:off x="457200" y="678583"/>
            <a:ext cx="8215461" cy="719156"/>
          </a:xfrm>
          <a:prstGeom prst="rect">
            <a:avLst/>
          </a:prstGeom>
          <a:noFill/>
          <a:ln/>
        </p:spPr>
        <p:txBody>
          <a:bodyPr wrap="square" lIns="0" tIns="0" rIns="0" bIns="0" rtlCol="0" anchor="t"/>
          <a:lstStyle/>
          <a:p>
            <a:pPr defTabSz="640048"/>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Smart Horizon </a:t>
            </a:r>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2026:</a:t>
            </a:r>
          </a:p>
          <a:p>
            <a:pPr defTabSz="640048"/>
            <a:r>
              <a:rPr lang="en-US" sz="2800" b="1" dirty="0" smtClean="0">
                <a:solidFill>
                  <a:srgbClr val="1F497D"/>
                </a:solidFill>
                <a:latin typeface="Times New Roman" panose="02020603050405020304" pitchFamily="18" charset="0"/>
                <a:ea typeface="Barlow Bold" pitchFamily="34" charset="-122"/>
                <a:cs typeface="Times New Roman" panose="02020603050405020304" pitchFamily="18" charset="0"/>
              </a:rPr>
              <a:t>48-Hour </a:t>
            </a:r>
            <a:r>
              <a:rPr lang="en-US" sz="2800" b="1" dirty="0">
                <a:solidFill>
                  <a:srgbClr val="1F497D"/>
                </a:solidFill>
                <a:latin typeface="Times New Roman" panose="02020603050405020304" pitchFamily="18" charset="0"/>
                <a:ea typeface="Barlow Bold" pitchFamily="34" charset="-122"/>
                <a:cs typeface="Times New Roman" panose="02020603050405020304" pitchFamily="18" charset="0"/>
              </a:rPr>
              <a:t>International Hackathon</a:t>
            </a:r>
            <a:endParaRPr lang="en-US" sz="2800" dirty="0">
              <a:solidFill>
                <a:srgbClr val="1F497D"/>
              </a:solidFill>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88849" y="1906581"/>
            <a:ext cx="8352161" cy="613711"/>
            <a:chOff x="300707" y="2006663"/>
            <a:chExt cx="8352161" cy="613711"/>
          </a:xfrm>
        </p:grpSpPr>
        <p:sp>
          <p:nvSpPr>
            <p:cNvPr id="9" name="Shape 4"/>
            <p:cNvSpPr/>
            <p:nvPr/>
          </p:nvSpPr>
          <p:spPr>
            <a:xfrm>
              <a:off x="300707" y="2006663"/>
              <a:ext cx="2702644" cy="594867"/>
            </a:xfrm>
            <a:prstGeom prst="roundRect">
              <a:avLst>
                <a:gd name="adj" fmla="val 480095"/>
              </a:avLst>
            </a:prstGeom>
            <a:solidFill>
              <a:schemeClr val="tx2"/>
            </a:solidFill>
            <a:ln w="7620">
              <a:solidFill>
                <a:srgbClr val="BACFDD"/>
              </a:solidFill>
              <a:prstDash val="solid"/>
            </a:ln>
          </p:spPr>
        </p:sp>
        <p:sp>
          <p:nvSpPr>
            <p:cNvPr id="10" name="Text 5"/>
            <p:cNvSpPr/>
            <p:nvPr/>
          </p:nvSpPr>
          <p:spPr>
            <a:xfrm>
              <a:off x="1305749" y="2085211"/>
              <a:ext cx="692560" cy="152698"/>
            </a:xfrm>
            <a:prstGeom prst="rect">
              <a:avLst/>
            </a:prstGeom>
            <a:noFill/>
            <a:ln/>
          </p:spPr>
          <p:txBody>
            <a:bodyPr wrap="none" lIns="0" tIns="0" rIns="0" bIns="0" rtlCol="0" anchor="t"/>
            <a:lstStyle/>
            <a:p>
              <a:pPr defTabSz="640048">
                <a:lnSpc>
                  <a:spcPts val="1330"/>
                </a:lnSpc>
              </a:pPr>
              <a:r>
                <a:rPr lang="en-US" sz="1000" b="1" dirty="0" smtClean="0">
                  <a:solidFill>
                    <a:schemeClr val="bg1"/>
                  </a:solidFill>
                  <a:latin typeface="Times New Roman" panose="02020603050405020304" pitchFamily="18" charset="0"/>
                  <a:ea typeface="Barlow Bold" pitchFamily="34" charset="-122"/>
                  <a:cs typeface="Times New Roman" panose="02020603050405020304" pitchFamily="18" charset="0"/>
                </a:rPr>
                <a:t>Event Date</a:t>
              </a:r>
              <a:endParaRPr lang="en-US" sz="1000" dirty="0">
                <a:solidFill>
                  <a:schemeClr val="bg1"/>
                </a:solidFill>
                <a:latin typeface="Times New Roman" panose="02020603050405020304" pitchFamily="18" charset="0"/>
                <a:cs typeface="Times New Roman" panose="02020603050405020304" pitchFamily="18" charset="0"/>
              </a:endParaRPr>
            </a:p>
          </p:txBody>
        </p:sp>
        <p:sp>
          <p:nvSpPr>
            <p:cNvPr id="11" name="Text 6"/>
            <p:cNvSpPr/>
            <p:nvPr/>
          </p:nvSpPr>
          <p:spPr>
            <a:xfrm>
              <a:off x="393501" y="2404121"/>
              <a:ext cx="2517056" cy="117277"/>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September 3rd, 4th &amp; 5th, 2026</a:t>
              </a:r>
              <a:endParaRPr lang="en-US" sz="1200" b="1" dirty="0">
                <a:solidFill>
                  <a:schemeClr val="bg1"/>
                </a:solidFill>
                <a:latin typeface="Times New Roman" panose="02020603050405020304" pitchFamily="18" charset="0"/>
                <a:cs typeface="Times New Roman" panose="02020603050405020304" pitchFamily="18" charset="0"/>
              </a:endParaRPr>
            </a:p>
          </p:txBody>
        </p:sp>
        <p:sp>
          <p:nvSpPr>
            <p:cNvPr id="12" name="Shape 7"/>
            <p:cNvSpPr/>
            <p:nvPr/>
          </p:nvSpPr>
          <p:spPr>
            <a:xfrm>
              <a:off x="3037247" y="2019013"/>
              <a:ext cx="2912901" cy="594866"/>
            </a:xfrm>
            <a:prstGeom prst="roundRect">
              <a:avLst>
                <a:gd name="adj" fmla="val 480095"/>
              </a:avLst>
            </a:prstGeom>
            <a:solidFill>
              <a:schemeClr val="tx2"/>
            </a:solidFill>
            <a:ln w="7620">
              <a:solidFill>
                <a:srgbClr val="BACFDD"/>
              </a:solidFill>
              <a:prstDash val="solid"/>
            </a:ln>
          </p:spPr>
        </p:sp>
        <p:sp>
          <p:nvSpPr>
            <p:cNvPr id="13" name="Text 8"/>
            <p:cNvSpPr/>
            <p:nvPr/>
          </p:nvSpPr>
          <p:spPr>
            <a:xfrm>
              <a:off x="4362463" y="2084402"/>
              <a:ext cx="404933"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Venue</a:t>
              </a:r>
            </a:p>
          </p:txBody>
        </p:sp>
        <p:sp>
          <p:nvSpPr>
            <p:cNvPr id="14" name="Text 9"/>
            <p:cNvSpPr/>
            <p:nvPr/>
          </p:nvSpPr>
          <p:spPr>
            <a:xfrm>
              <a:off x="3235169" y="2340071"/>
              <a:ext cx="2517056" cy="248353"/>
            </a:xfrm>
            <a:prstGeom prst="rect">
              <a:avLst/>
            </a:prstGeom>
            <a:noFill/>
            <a:ln/>
          </p:spPr>
          <p:txBody>
            <a:bodyPr wrap="none" lIns="0" tIns="0" rIns="0" bIns="0" rtlCol="0" anchor="t"/>
            <a:lstStyle/>
            <a:p>
              <a:pPr algn="ctr" defTabSz="640048"/>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Knowledge </a:t>
              </a:r>
              <a:r>
                <a:rPr lang="en-US" sz="1200" b="1" dirty="0" smtClean="0">
                  <a:solidFill>
                    <a:schemeClr val="bg1"/>
                  </a:solidFill>
                  <a:latin typeface="Times New Roman" panose="02020603050405020304" pitchFamily="18" charset="0"/>
                  <a:ea typeface="Montserrat" pitchFamily="34" charset="-122"/>
                  <a:cs typeface="Times New Roman" panose="02020603050405020304" pitchFamily="18" charset="0"/>
                </a:rPr>
                <a:t>Park, Bengaluru</a:t>
              </a:r>
              <a:endParaRPr lang="en-US" sz="1200" b="1" dirty="0">
                <a:solidFill>
                  <a:schemeClr val="bg1"/>
                </a:solidFill>
                <a:latin typeface="Times New Roman" panose="02020603050405020304" pitchFamily="18" charset="0"/>
                <a:ea typeface="Montserrat" pitchFamily="34" charset="-122"/>
                <a:cs typeface="Times New Roman" panose="02020603050405020304" pitchFamily="18" charset="0"/>
              </a:endParaRPr>
            </a:p>
          </p:txBody>
        </p:sp>
        <p:sp>
          <p:nvSpPr>
            <p:cNvPr id="15" name="Shape 10"/>
            <p:cNvSpPr/>
            <p:nvPr/>
          </p:nvSpPr>
          <p:spPr>
            <a:xfrm>
              <a:off x="5950149" y="2025508"/>
              <a:ext cx="2702719" cy="594866"/>
            </a:xfrm>
            <a:prstGeom prst="roundRect">
              <a:avLst>
                <a:gd name="adj" fmla="val 480095"/>
              </a:avLst>
            </a:prstGeom>
            <a:solidFill>
              <a:schemeClr val="tx2"/>
            </a:solidFill>
            <a:ln w="7620">
              <a:solidFill>
                <a:srgbClr val="BACFDD"/>
              </a:solidFill>
              <a:prstDash val="solid"/>
            </a:ln>
          </p:spPr>
        </p:sp>
        <p:sp>
          <p:nvSpPr>
            <p:cNvPr id="16" name="Text 11"/>
            <p:cNvSpPr/>
            <p:nvPr/>
          </p:nvSpPr>
          <p:spPr>
            <a:xfrm>
              <a:off x="6947116" y="2084402"/>
              <a:ext cx="753281" cy="152698"/>
            </a:xfrm>
            <a:prstGeom prst="rect">
              <a:avLst/>
            </a:prstGeom>
            <a:noFill/>
            <a:ln/>
          </p:spPr>
          <p:txBody>
            <a:bodyPr wrap="none" lIns="0" tIns="0" rIns="0" bIns="0" rtlCol="0" anchor="t"/>
            <a:lstStyle/>
            <a:p>
              <a:pPr defTabSz="640048">
                <a:lnSpc>
                  <a:spcPts val="1330"/>
                </a:lnSpc>
              </a:pPr>
              <a:r>
                <a:rPr lang="en-US" sz="1000" b="1" dirty="0">
                  <a:solidFill>
                    <a:schemeClr val="bg1"/>
                  </a:solidFill>
                  <a:latin typeface="Times New Roman" panose="02020603050405020304" pitchFamily="18" charset="0"/>
                  <a:ea typeface="Barlow Bold" pitchFamily="34" charset="-122"/>
                  <a:cs typeface="Times New Roman" panose="02020603050405020304" pitchFamily="18" charset="0"/>
                </a:rPr>
                <a:t>Host Institute</a:t>
              </a:r>
            </a:p>
          </p:txBody>
        </p:sp>
        <p:sp>
          <p:nvSpPr>
            <p:cNvPr id="17" name="Text 12"/>
            <p:cNvSpPr/>
            <p:nvPr/>
          </p:nvSpPr>
          <p:spPr>
            <a:xfrm>
              <a:off x="6031630" y="2378278"/>
              <a:ext cx="2584252" cy="168962"/>
            </a:xfrm>
            <a:prstGeom prst="rect">
              <a:avLst/>
            </a:prstGeom>
            <a:noFill/>
            <a:ln/>
          </p:spPr>
          <p:txBody>
            <a:bodyPr wrap="none" lIns="0" tIns="0" rIns="0" bIns="0" rtlCol="0" anchor="t"/>
            <a:lstStyle/>
            <a:p>
              <a:pPr algn="ctr" defTabSz="640048">
                <a:lnSpc>
                  <a:spcPts val="1015"/>
                </a:lnSpc>
              </a:pPr>
              <a:r>
                <a:rPr lang="en-US" sz="1200" b="1" dirty="0">
                  <a:solidFill>
                    <a:schemeClr val="bg1"/>
                  </a:solidFill>
                  <a:latin typeface="Times New Roman" panose="02020603050405020304" pitchFamily="18" charset="0"/>
                  <a:ea typeface="Montserrat" pitchFamily="34" charset="-122"/>
                  <a:cs typeface="Times New Roman" panose="02020603050405020304" pitchFamily="18" charset="0"/>
                </a:rPr>
                <a:t>New Horizon College of Engineering</a:t>
              </a:r>
            </a:p>
          </p:txBody>
        </p:sp>
      </p:grpSp>
      <p:sp>
        <p:nvSpPr>
          <p:cNvPr id="18" name="Text 13"/>
          <p:cNvSpPr/>
          <p:nvPr/>
        </p:nvSpPr>
        <p:spPr>
          <a:xfrm>
            <a:off x="457200" y="1635598"/>
            <a:ext cx="6034683" cy="257921"/>
          </a:xfrm>
          <a:prstGeom prst="rect">
            <a:avLst/>
          </a:prstGeom>
          <a:noFill/>
          <a:ln/>
        </p:spPr>
        <p:txBody>
          <a:bodyPr wrap="none" lIns="0" tIns="0" rIns="0" bIns="0" rtlCol="0" anchor="t"/>
          <a:lstStyle/>
          <a:p>
            <a:pPr defTabSz="640048">
              <a:lnSpc>
                <a:spcPts val="1330"/>
              </a:lnSpc>
            </a:pPr>
            <a:r>
              <a:rPr lang="en-US" sz="1200" b="1" dirty="0">
                <a:solidFill>
                  <a:srgbClr val="2E3C4E"/>
                </a:solidFill>
                <a:latin typeface="Times New Roman" panose="02020603050405020304" pitchFamily="18" charset="0"/>
                <a:ea typeface="Barlow Bold" pitchFamily="34" charset="-122"/>
                <a:cs typeface="Times New Roman" panose="02020603050405020304" pitchFamily="18" charset="0"/>
              </a:rPr>
              <a:t>Organized by: Dept. of Artificial Intelligence and Machine Learning &amp; Dept. of Computer Science and Engineering</a:t>
            </a:r>
            <a:endParaRPr lang="en-US" sz="1200" dirty="0">
              <a:solidFill>
                <a:prstClr val="black"/>
              </a:solidFill>
              <a:latin typeface="Times New Roman" panose="02020603050405020304" pitchFamily="18" charset="0"/>
              <a:cs typeface="Times New Roman" panose="02020603050405020304" pitchFamily="18" charset="0"/>
            </a:endParaRPr>
          </a:p>
        </p:txBody>
      </p:sp>
      <p:sp>
        <p:nvSpPr>
          <p:cNvPr id="37" name="Text 13"/>
          <p:cNvSpPr/>
          <p:nvPr/>
        </p:nvSpPr>
        <p:spPr>
          <a:xfrm>
            <a:off x="395776" y="2687407"/>
            <a:ext cx="7989312" cy="411426"/>
          </a:xfrm>
          <a:prstGeom prst="rect">
            <a:avLst/>
          </a:prstGeom>
          <a:noFill/>
          <a:ln/>
        </p:spPr>
        <p:txBody>
          <a:bodyPr wrap="none" lIns="0" tIns="0" rIns="0" bIns="0" rtlCol="0" anchor="t"/>
          <a:lstStyle/>
          <a:p>
            <a:pPr defTabSz="640048">
              <a:lnSpc>
                <a:spcPts val="1330"/>
              </a:lnSpc>
            </a:pPr>
            <a:r>
              <a:rPr lang="en-IN" sz="1600" b="1" dirty="0" smtClean="0">
                <a:solidFill>
                  <a:prstClr val="black"/>
                </a:solidFill>
                <a:latin typeface="Times New Roman" panose="02020603050405020304" pitchFamily="18" charset="0"/>
                <a:cs typeface="Times New Roman" panose="02020603050405020304" pitchFamily="18" charset="0"/>
              </a:rPr>
              <a:t>Title: LabSentinel: Real-Time Predictive Maintenance for Hospital and Lab Equipment</a:t>
            </a:r>
            <a:endParaRPr lang="en-US" sz="1600" b="1" dirty="0">
              <a:solidFill>
                <a:prstClr val="black"/>
              </a:solidFill>
              <a:latin typeface="Times New Roman" panose="02020603050405020304" pitchFamily="18" charset="0"/>
              <a:cs typeface="Times New Roman" panose="02020603050405020304" pitchFamily="18" charset="0"/>
            </a:endParaRPr>
          </a:p>
        </p:txBody>
      </p:sp>
      <p:graphicFrame>
        <p:nvGraphicFramePr>
          <p:cNvPr id="39" name="Table 38"/>
          <p:cNvGraphicFramePr>
            <a:graphicFrameLocks noGrp="1"/>
          </p:cNvGraphicFramePr>
          <p:nvPr>
            <p:extLst>
              <p:ext uri="{D42A27DB-BD31-4B8C-83A1-F6EECF244321}">
                <p14:modId xmlns:p14="http://schemas.microsoft.com/office/powerpoint/2010/main" val="2894971548"/>
              </p:ext>
            </p:extLst>
          </p:nvPr>
        </p:nvGraphicFramePr>
        <p:xfrm>
          <a:off x="1056671" y="3257550"/>
          <a:ext cx="3326834" cy="1828800"/>
        </p:xfrm>
        <a:graphic>
          <a:graphicData uri="http://schemas.openxmlformats.org/drawingml/2006/table">
            <a:tbl>
              <a:tblPr firstRow="1" bandRow="1">
                <a:tableStyleId>{5940675A-B579-460E-94D1-54222C63F5DA}</a:tableStyleId>
              </a:tblPr>
              <a:tblGrid>
                <a:gridCol w="3326834">
                  <a:extLst>
                    <a:ext uri="{9D8B030D-6E8A-4147-A177-3AD203B41FA5}">
                      <a16:colId xmlns:a16="http://schemas.microsoft.com/office/drawing/2014/main" val="3154602362"/>
                    </a:ext>
                  </a:extLst>
                </a:gridCol>
              </a:tblGrid>
              <a:tr h="252755">
                <a:tc>
                  <a:txBody>
                    <a:bodyPr/>
                    <a:lstStyle/>
                    <a:p>
                      <a:pPr algn="ctr"/>
                      <a:r>
                        <a:rPr lang="en-GB" sz="1400" b="1" dirty="0" smtClean="0">
                          <a:solidFill>
                            <a:schemeClr val="bg1"/>
                          </a:solidFill>
                        </a:rPr>
                        <a:t>Team</a:t>
                      </a:r>
                      <a:r>
                        <a:rPr lang="en-GB" sz="1400" b="1" baseline="0" dirty="0" smtClean="0">
                          <a:solidFill>
                            <a:schemeClr val="bg1"/>
                          </a:solidFill>
                        </a:rPr>
                        <a:t> Members</a:t>
                      </a:r>
                      <a:endParaRPr lang="en-GB" sz="1400" b="1"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solidFill>
                      <a:schemeClr val="tx2"/>
                    </a:solidFill>
                  </a:tcPr>
                </a:tc>
                <a:extLst>
                  <a:ext uri="{0D108BD9-81ED-4DB2-BD59-A6C34878D82A}">
                    <a16:rowId xmlns:a16="http://schemas.microsoft.com/office/drawing/2014/main" val="3835758296"/>
                  </a:ext>
                </a:extLst>
              </a:tr>
              <a:tr h="252755">
                <a:tc>
                  <a:txBody>
                    <a:bodyPr/>
                    <a:lstStyle/>
                    <a:p>
                      <a:r>
                        <a:rPr lang="en-GB" sz="1400" dirty="0" smtClean="0"/>
                        <a:t>1. Rishi</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52755">
                <a:tc>
                  <a:txBody>
                    <a:bodyPr/>
                    <a:lstStyle/>
                    <a:p>
                      <a:r>
                        <a:rPr lang="en-GB" sz="1400" dirty="0" smtClean="0"/>
                        <a:t>2. Rushikesh R</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52755">
                <a:tc>
                  <a:txBody>
                    <a:bodyPr/>
                    <a:lstStyle/>
                    <a:p>
                      <a:r>
                        <a:rPr lang="en-GB" sz="1400" dirty="0" smtClean="0"/>
                        <a:t>3. Rohan V</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52755">
                <a:tc>
                  <a:txBody>
                    <a:bodyPr/>
                    <a:lstStyle/>
                    <a:p>
                      <a:r>
                        <a:rPr lang="en-GB" sz="1400" dirty="0" smtClean="0"/>
                        <a:t>4. Rohan B</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52755">
                <a:tc>
                  <a:txBody>
                    <a:bodyPr/>
                    <a:lstStyle/>
                    <a:p>
                      <a:r>
                        <a:rPr lang="en-GB" sz="1400" dirty="0" smtClean="0"/>
                        <a:t>5. Manish R</a:t>
                      </a:r>
                      <a:endParaRPr lang="en-GB"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graphicFrame>
        <p:nvGraphicFramePr>
          <p:cNvPr id="40" name="Table 39"/>
          <p:cNvGraphicFramePr>
            <a:graphicFrameLocks noGrp="1"/>
          </p:cNvGraphicFramePr>
          <p:nvPr>
            <p:extLst>
              <p:ext uri="{D42A27DB-BD31-4B8C-83A1-F6EECF244321}">
                <p14:modId xmlns:p14="http://schemas.microsoft.com/office/powerpoint/2010/main" val="3729356568"/>
              </p:ext>
            </p:extLst>
          </p:nvPr>
        </p:nvGraphicFramePr>
        <p:xfrm>
          <a:off x="4907273" y="3257550"/>
          <a:ext cx="3342758" cy="1828800"/>
        </p:xfrm>
        <a:graphic>
          <a:graphicData uri="http://schemas.openxmlformats.org/drawingml/2006/table">
            <a:tbl>
              <a:tblPr firstRow="1" bandRow="1">
                <a:tableStyleId>{5940675A-B579-460E-94D1-54222C63F5DA}</a:tableStyleId>
              </a:tblPr>
              <a:tblGrid>
                <a:gridCol w="3342758">
                  <a:extLst>
                    <a:ext uri="{9D8B030D-6E8A-4147-A177-3AD203B41FA5}">
                      <a16:colId xmlns:a16="http://schemas.microsoft.com/office/drawing/2014/main" val="3154602362"/>
                    </a:ext>
                  </a:extLst>
                </a:gridCol>
              </a:tblGrid>
              <a:tr h="278155">
                <a:tc>
                  <a:txBody>
                    <a:bodyPr/>
                    <a:lstStyle/>
                    <a:p>
                      <a:pPr marL="0" algn="ctr" defTabSz="914400" rtl="0" eaLnBrk="1" latinLnBrk="0" hangingPunct="1"/>
                      <a:r>
                        <a:rPr lang="en-GB" sz="1400" b="1" kern="1200" dirty="0" smtClean="0">
                          <a:solidFill>
                            <a:schemeClr val="bg1"/>
                          </a:solidFill>
                        </a:rPr>
                        <a:t>Team Details</a:t>
                      </a:r>
                      <a:endParaRPr lang="en-GB" sz="1400" b="1" kern="1200" dirty="0">
                        <a:solidFill>
                          <a:schemeClr val="bg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835758296"/>
                  </a:ext>
                </a:extLst>
              </a:tr>
              <a:tr h="278155">
                <a:tc>
                  <a:txBody>
                    <a:bodyPr/>
                    <a:lstStyle/>
                    <a:p>
                      <a:pPr marL="0" algn="l" defTabSz="914400" rtl="0" eaLnBrk="1" latinLnBrk="0" hangingPunct="1"/>
                      <a:r>
                        <a:rPr lang="en-GB" sz="1400" kern="1200" dirty="0" smtClean="0"/>
                        <a:t>Team ID: SHIH26-TID-199</a:t>
                      </a:r>
                      <a:endParaRPr lang="en-GB"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22537897"/>
                  </a:ext>
                </a:extLst>
              </a:tr>
              <a:tr h="278155">
                <a:tc>
                  <a:txBody>
                    <a:bodyPr/>
                    <a:lstStyle/>
                    <a:p>
                      <a:pPr marL="0" algn="l" defTabSz="914400" rtl="0" eaLnBrk="1" latinLnBrk="0" hangingPunct="1"/>
                      <a:r>
                        <a:rPr lang="en-GB" sz="1400" kern="1200" dirty="0" smtClean="0"/>
                        <a:t>Team Name: Ctrl+R</a:t>
                      </a:r>
                      <a:endParaRPr lang="en-GB"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8951624"/>
                  </a:ext>
                </a:extLst>
              </a:tr>
              <a:tr h="278155">
                <a:tc>
                  <a:txBody>
                    <a:bodyPr/>
                    <a:lstStyle/>
                    <a:p>
                      <a:pPr marL="0" algn="l" defTabSz="914400" rtl="0" eaLnBrk="1" latinLnBrk="0" hangingPunct="1"/>
                      <a:r>
                        <a:rPr lang="en-GB" sz="1400" kern="1200" dirty="0" smtClean="0"/>
                        <a:t>Team Lead: Rishi</a:t>
                      </a:r>
                      <a:endParaRPr lang="en-GB"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836322055"/>
                  </a:ext>
                </a:extLst>
              </a:tr>
              <a:tr h="278155">
                <a:tc>
                  <a:txBody>
                    <a:bodyPr/>
                    <a:lstStyle/>
                    <a:p>
                      <a:pPr marL="0" algn="l" defTabSz="914400" rtl="0" eaLnBrk="1" latinLnBrk="0" hangingPunct="1"/>
                      <a:r>
                        <a:rPr lang="en-GB" sz="1400" kern="1200" dirty="0" smtClean="0"/>
                        <a:t>College Name: REVA University</a:t>
                      </a:r>
                      <a:endParaRPr lang="en-GB" sz="140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96001403"/>
                  </a:ext>
                </a:extLst>
              </a:tr>
              <a:tr h="278155">
                <a:tc>
                  <a:txBody>
                    <a:bodyPr/>
                    <a:lstStyle/>
                    <a:p>
                      <a:pPr marL="0" algn="l" defTabSz="914400" rtl="0" eaLnBrk="1" latinLnBrk="0" hangingPunct="1"/>
                      <a:r>
                        <a:rPr lang="en-GB" sz="1400" kern="1200" dirty="0" smtClean="0"/>
                        <a:t>Problem Statement ID: SH-HLT-03</a:t>
                      </a:r>
                      <a:endParaRPr lang="en-GB" sz="14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0444440"/>
                  </a:ext>
                </a:extLst>
              </a:tr>
            </a:tbl>
          </a:graphicData>
        </a:graphic>
      </p:graphicFrame>
      <p:sp>
        <p:nvSpPr>
          <p:cNvPr id="41" name="Shape 4"/>
          <p:cNvSpPr/>
          <p:nvPr/>
        </p:nvSpPr>
        <p:spPr>
          <a:xfrm>
            <a:off x="7487333" y="894865"/>
            <a:ext cx="1416606" cy="502874"/>
          </a:xfrm>
          <a:prstGeom prst="roundRect">
            <a:avLst>
              <a:gd name="adj" fmla="val 480095"/>
            </a:avLst>
          </a:prstGeom>
          <a:solidFill>
            <a:schemeClr val="tx2"/>
          </a:solidFill>
          <a:ln w="7620">
            <a:solidFill>
              <a:srgbClr val="BACFDD"/>
            </a:solidFill>
            <a:prstDash val="solid"/>
          </a:ln>
        </p:spPr>
        <p:txBody>
          <a:bodyPr/>
          <a:p/>
        </p:txBody>
      </p:sp>
      <p:sp>
        <p:nvSpPr>
          <p:cNvPr id="42" name="Text 6"/>
          <p:cNvSpPr/>
          <p:nvPr/>
        </p:nvSpPr>
        <p:spPr>
          <a:xfrm>
            <a:off x="7741099" y="1107433"/>
            <a:ext cx="931561" cy="120475"/>
          </a:xfrm>
          <a:prstGeom prst="rect">
            <a:avLst/>
          </a:prstGeom>
          <a:noFill/>
          <a:ln/>
        </p:spPr>
        <p:txBody>
          <a:bodyPr wrap="none" lIns="0" tIns="0" rIns="0" bIns="0" rtlCol="0" anchor="t"/>
          <a:lstStyle/>
          <a:p>
            <a:pPr algn="ctr" defTabSz="640048">
              <a:lnSpc>
                <a:spcPts val="1015"/>
              </a:lnSpc>
            </a:pPr>
            <a:r>
              <a:rPr lang="en-US" sz="1600" b="1" dirty="0" smtClean="0">
                <a:solidFill>
                  <a:schemeClr val="bg1"/>
                </a:solidFill>
                <a:latin typeface="Times New Roman" panose="02020603050405020304" pitchFamily="18" charset="0"/>
                <a:ea typeface="Montserrat" pitchFamily="34" charset="-122"/>
                <a:cs typeface="Times New Roman" panose="02020603050405020304" pitchFamily="18" charset="0"/>
              </a:rPr>
              <a:t>Grand Finale</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0752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Problem </a:t>
            </a: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Understanding</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500"/>
              </a:spcAft>
              <a:buSzPct val="100000"/>
              <a:buFontTx/>
              <a:buNone/>
            </a:pPr>
            <a:r>
              <a:rPr sz="1200" b="0">
                <a:solidFill>
                  <a:srgbClr val="384653"/>
                </a:solidFill>
                <a:latin typeface="Montserrat"/>
              </a:rPr>
              <a:t>Hospitals and labs depend on critical equipment (ventilators, MRI scanners, ECG machines, infusion pumps, centrifuges) running around the clock.</a:t>
            </a:r>
            <a:endParaRPr lang="en-US" sz="1200" dirty="0">
              <a:solidFill>
                <a:prstClr val="black"/>
              </a:solidFill>
            </a:endParaRPr>
          </a:p>
          <a:p>
            <a:pPr>
              <a:spcBef>
                <a:spcPts val="0"/>
              </a:spcBef>
              <a:spcAft>
                <a:spcPts val="500"/>
              </a:spcAft>
              <a:buNone/>
            </a:pPr>
            <a:r>
              <a:rPr sz="1200" b="1">
                <a:solidFill>
                  <a:srgbClr val="384653"/>
                </a:solidFill>
                <a:latin typeface="Montserrat"/>
              </a:rPr>
              <a:t>Maintenance today is mostly reactive. </a:t>
            </a:r>
            <a:r>
              <a:rPr sz="1200" b="0">
                <a:solidFill>
                  <a:srgbClr val="384653"/>
                </a:solidFill>
                <a:latin typeface="Montserrat"/>
              </a:rPr>
              <a:t>A machine gets attention only after it has already failed.</a:t>
            </a:r>
          </a:p>
          <a:p>
            <a:pPr>
              <a:spcBef>
                <a:spcPts val="0"/>
              </a:spcBef>
              <a:spcAft>
                <a:spcPts val="500"/>
              </a:spcAft>
              <a:buNone/>
            </a:pPr>
            <a:r>
              <a:rPr sz="1200" b="0">
                <a:solidFill>
                  <a:srgbClr val="384653"/>
                </a:solidFill>
                <a:latin typeface="Montserrat"/>
              </a:rPr>
              <a:t>Unplanned breakdowns delay treatment and lab results, put patient safety at risk, and raise cost.</a:t>
            </a:r>
          </a:p>
          <a:p>
            <a:pPr>
              <a:spcBef>
                <a:spcPts val="0"/>
              </a:spcBef>
              <a:spcAft>
                <a:spcPts val="500"/>
              </a:spcAft>
              <a:buNone/>
            </a:pPr>
            <a:r>
              <a:rPr sz="1200" b="0">
                <a:solidFill>
                  <a:srgbClr val="384653"/>
                </a:solidFill>
                <a:latin typeface="Montserrat"/>
              </a:rPr>
              <a:t>There is no single view that tells staff which machines are drifting toward failure.</a:t>
            </a:r>
          </a:p>
          <a:p>
            <a:pPr>
              <a:spcBef>
                <a:spcPts val="0"/>
              </a:spcBef>
              <a:spcAft>
                <a:spcPts val="500"/>
              </a:spcAft>
              <a:buNone/>
            </a:pPr>
            <a:r>
              <a:rPr sz="1200" b="1">
                <a:solidFill>
                  <a:srgbClr val="384653"/>
                </a:solidFill>
                <a:latin typeface="Montserrat"/>
              </a:rPr>
              <a:t>Who feels it: </a:t>
            </a:r>
            <a:r>
              <a:rPr sz="1200" b="0">
                <a:solidFill>
                  <a:srgbClr val="384653"/>
                </a:solidFill>
                <a:latin typeface="Montserrat"/>
              </a:rPr>
              <a:t>patients, biomedical technicians, hospital administrators, and lab teams.</a:t>
            </a:r>
          </a:p>
        </p:txBody>
      </p:sp>
      <p:sp>
        <p:nvSpPr>
          <p:cNvPr id="7" name="Date Placeholder 6"/>
          <p:cNvSpPr>
            <a:spLocks noGrp="1"/>
          </p:cNvSpPr>
          <p:nvPr>
            <p:ph type="dt" sz="half" idx="10"/>
          </p:nvPr>
        </p:nvSpPr>
        <p:spPr/>
        <p:txBody>
          <a:bodyPr/>
          <a:lstStyle/>
          <a:p>
            <a:fld id="{A4A11B5B-F9C8-4AE7-BC3B-3C34EE39BCA4}" type="datetime3">
              <a:rPr lang="en-US" smtClean="0"/>
              <a:t>31 August 2026</a:t>
            </a:fld>
            <a:endParaRPr lang="en-US"/>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6765058" cy="599180"/>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Literature Survey</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24128"/>
            <a:ext cx="8193024" cy="457200"/>
          </a:xfrm>
          <a:prstGeom prst="rect">
            <a:avLst/>
          </a:prstGeom>
          <a:noFill/>
          <a:ln/>
        </p:spPr>
        <p:txBody>
          <a:bodyPr wrap="square" lIns="0" tIns="0" rIns="0" bIns="0" rtlCol="0" anchor="t"/>
          <a:lstStyle/>
          <a:p>
            <a:pPr marL="240018" indent="-240018" defTabSz="640048">
              <a:lnSpc>
                <a:spcPts val="1890"/>
              </a:lnSpc>
              <a:spcBef>
                <a:spcPts val="0"/>
              </a:spcBef>
              <a:spcAft>
                <a:spcPts val="500"/>
              </a:spcAft>
              <a:buSzPct val="100000"/>
              <a:buFontTx/>
              <a:buNone/>
            </a:pPr>
            <a:r>
              <a:rPr sz="1200" b="0">
                <a:solidFill>
                  <a:srgbClr val="384653"/>
                </a:solidFill>
                <a:latin typeface="Montserrat"/>
              </a:rPr>
              <a:t>How maintenance is done today, and where each approach falls short.</a:t>
            </a:r>
            <a:endParaRPr lang="en-US" sz="1200" dirty="0">
              <a:solidFill>
                <a:prstClr val="black"/>
              </a:solidFill>
            </a:endParaRPr>
          </a:p>
        </p:txBody>
      </p:sp>
      <p:sp>
        <p:nvSpPr>
          <p:cNvPr id="7" name="Date Placeholder 6"/>
          <p:cNvSpPr>
            <a:spLocks noGrp="1"/>
          </p:cNvSpPr>
          <p:nvPr>
            <p:ph type="dt" sz="half" idx="10"/>
          </p:nvPr>
        </p:nvSpPr>
        <p:spPr/>
        <p:txBody>
          <a:bodyPr/>
          <a:lstStyle/>
          <a:p>
            <a:fld id="{A4A11B5B-F9C8-4AE7-BC3B-3C34EE39BCA4}" type="datetime3">
              <a:rPr lang="en-US" smtClean="0"/>
              <a:t>31 August 2026</a:t>
            </a:fld>
            <a:endParaRPr lang="en-US"/>
          </a:p>
        </p:txBody>
      </p:sp>
      <p:sp>
        <p:nvSpPr>
          <p:cNvPr id="8"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3</a:t>
            </a:fld>
            <a:endParaRPr lang="en-US"/>
          </a:p>
        </p:txBody>
      </p:sp>
      <p:graphicFrame>
        <p:nvGraphicFramePr>
          <p:cNvPr id="10" name="Table 9"/>
          <p:cNvGraphicFramePr>
            <a:graphicFrameLocks noGrp="1"/>
          </p:cNvGraphicFramePr>
          <p:nvPr/>
        </p:nvGraphicFramePr>
        <p:xfrm>
          <a:off x="475488" y="1554480"/>
          <a:ext cx="8193024" cy="2743200"/>
        </p:xfrm>
        <a:graphic>
          <a:graphicData uri="http://schemas.openxmlformats.org/drawingml/2006/table">
            <a:tbl>
              <a:tblPr firstRow="1" bandRow="1">
                <a:tableStyleId>{5C22544A-7EE6-4342-B048-85BDC9FD1C3A}</a:tableStyleId>
              </a:tblPr>
              <a:tblGrid>
                <a:gridCol w="3200400"/>
                <a:gridCol w="4992624"/>
              </a:tblGrid>
              <a:tr h="391885">
                <a:tc>
                  <a:txBody>
                    <a:bodyPr/>
                    <a:lstStyle/>
                    <a:p>
                      <a:r>
                        <a:rPr sz="1100" b="1">
                          <a:solidFill>
                            <a:srgbClr val="1F497D"/>
                          </a:solidFill>
                          <a:latin typeface="Montserrat"/>
                        </a:rPr>
                        <a:t>Approach</a:t>
                      </a:r>
                    </a:p>
                  </a:txBody>
                  <a:tcPr/>
                </a:tc>
                <a:tc>
                  <a:txBody>
                    <a:bodyPr/>
                    <a:lstStyle/>
                    <a:p>
                      <a:r>
                        <a:rPr sz="1100" b="1">
                          <a:solidFill>
                            <a:srgbClr val="1F497D"/>
                          </a:solidFill>
                          <a:latin typeface="Montserrat"/>
                        </a:rPr>
                        <a:t>Where it falls short</a:t>
                      </a:r>
                    </a:p>
                  </a:txBody>
                  <a:tcPr/>
                </a:tc>
              </a:tr>
              <a:tr h="391885">
                <a:tc>
                  <a:txBody>
                    <a:bodyPr/>
                    <a:lstStyle/>
                    <a:p>
                      <a:r>
                        <a:rPr sz="1100" b="0">
                          <a:solidFill>
                            <a:srgbClr val="384653"/>
                          </a:solidFill>
                          <a:latin typeface="Montserrat"/>
                        </a:rPr>
                        <a:t>Reactive (fix after failure)</a:t>
                      </a:r>
                    </a:p>
                  </a:txBody>
                  <a:tcPr/>
                </a:tc>
                <a:tc>
                  <a:txBody>
                    <a:bodyPr/>
                    <a:lstStyle/>
                    <a:p>
                      <a:r>
                        <a:rPr sz="1100" b="0">
                          <a:solidFill>
                            <a:srgbClr val="384653"/>
                          </a:solidFill>
                          <a:latin typeface="Montserrat"/>
                        </a:rPr>
                        <a:t>Cheapest to start, highest downtime and safety risk</a:t>
                      </a:r>
                    </a:p>
                  </a:txBody>
                  <a:tcPr/>
                </a:tc>
              </a:tr>
              <a:tr h="391885">
                <a:tc>
                  <a:txBody>
                    <a:bodyPr/>
                    <a:lstStyle/>
                    <a:p>
                      <a:r>
                        <a:rPr sz="1100" b="0">
                          <a:solidFill>
                            <a:srgbClr val="384653"/>
                          </a:solidFill>
                          <a:latin typeface="Montserrat"/>
                        </a:rPr>
                        <a:t>Preventive (fixed schedule)</a:t>
                      </a:r>
                    </a:p>
                  </a:txBody>
                  <a:tcPr/>
                </a:tc>
                <a:tc>
                  <a:txBody>
                    <a:bodyPr/>
                    <a:lstStyle/>
                    <a:p>
                      <a:r>
                        <a:rPr sz="1100" b="0">
                          <a:solidFill>
                            <a:srgbClr val="384653"/>
                          </a:solidFill>
                          <a:latin typeface="Montserrat"/>
                        </a:rPr>
                        <a:t>Wastes healthy part life and still misses early faults</a:t>
                      </a:r>
                    </a:p>
                  </a:txBody>
                  <a:tcPr/>
                </a:tc>
              </a:tr>
              <a:tr h="391885">
                <a:tc>
                  <a:txBody>
                    <a:bodyPr/>
                    <a:lstStyle/>
                    <a:p>
                      <a:r>
                        <a:rPr sz="1100" b="0">
                          <a:solidFill>
                            <a:srgbClr val="384653"/>
                          </a:solidFill>
                          <a:latin typeface="Montserrat"/>
                        </a:rPr>
                        <a:t>Threshold / limit alarms</a:t>
                      </a:r>
                    </a:p>
                  </a:txBody>
                  <a:tcPr/>
                </a:tc>
                <a:tc>
                  <a:txBody>
                    <a:bodyPr/>
                    <a:lstStyle/>
                    <a:p>
                      <a:r>
                        <a:rPr sz="1100" b="0">
                          <a:solidFill>
                            <a:srgbClr val="384653"/>
                          </a:solidFill>
                          <a:latin typeface="Montserrat"/>
                        </a:rPr>
                        <a:t>Simple, but blind to gradual degradation</a:t>
                      </a:r>
                    </a:p>
                  </a:txBody>
                  <a:tcPr/>
                </a:tc>
              </a:tr>
              <a:tr h="391885">
                <a:tc>
                  <a:txBody>
                    <a:bodyPr/>
                    <a:lstStyle/>
                    <a:p>
                      <a:r>
                        <a:rPr sz="1100" b="0">
                          <a:solidFill>
                            <a:srgbClr val="384653"/>
                          </a:solidFill>
                          <a:latin typeface="Montserrat"/>
                        </a:rPr>
                        <a:t>ML failure classification (AI4I 2020)</a:t>
                      </a:r>
                    </a:p>
                  </a:txBody>
                  <a:tcPr/>
                </a:tc>
                <a:tc>
                  <a:txBody>
                    <a:bodyPr/>
                    <a:lstStyle/>
                    <a:p>
                      <a:r>
                        <a:rPr sz="1100" b="0">
                          <a:solidFill>
                            <a:srgbClr val="384653"/>
                          </a:solidFill>
                          <a:latin typeface="Montserrat"/>
                        </a:rPr>
                        <a:t>Learns risk from data, but needs honest metrics on imbalance</a:t>
                      </a:r>
                    </a:p>
                  </a:txBody>
                  <a:tcPr/>
                </a:tc>
              </a:tr>
              <a:tr h="391885">
                <a:tc>
                  <a:txBody>
                    <a:bodyPr/>
                    <a:lstStyle/>
                    <a:p>
                      <a:r>
                        <a:rPr sz="1100" b="0">
                          <a:solidFill>
                            <a:srgbClr val="384653"/>
                          </a:solidFill>
                          <a:latin typeface="Montserrat"/>
                        </a:rPr>
                        <a:t>RUL regression (NASA C-MAPSS)</a:t>
                      </a:r>
                    </a:p>
                  </a:txBody>
                  <a:tcPr/>
                </a:tc>
                <a:tc>
                  <a:txBody>
                    <a:bodyPr/>
                    <a:lstStyle/>
                    <a:p>
                      <a:r>
                        <a:rPr sz="1100" b="0">
                          <a:solidFill>
                            <a:srgbClr val="384653"/>
                          </a:solidFill>
                          <a:latin typeface="Montserrat"/>
                        </a:rPr>
                        <a:t>Estimates remaining life, but needs run-to-failure data</a:t>
                      </a:r>
                    </a:p>
                  </a:txBody>
                  <a:tcPr/>
                </a:tc>
              </a:tr>
              <a:tr h="391890">
                <a:tc>
                  <a:txBody>
                    <a:bodyPr/>
                    <a:lstStyle/>
                    <a:p>
                      <a:r>
                        <a:rPr sz="1100" b="0">
                          <a:solidFill>
                            <a:srgbClr val="384653"/>
                          </a:solidFill>
                          <a:latin typeface="Montserrat"/>
                        </a:rPr>
                        <a:t>Explainable AI (SHAP)</a:t>
                      </a:r>
                    </a:p>
                  </a:txBody>
                  <a:tcPr/>
                </a:tc>
                <a:tc>
                  <a:txBody>
                    <a:bodyPr/>
                    <a:lstStyle/>
                    <a:p>
                      <a:r>
                        <a:rPr sz="1100" b="0">
                          <a:solidFill>
                            <a:srgbClr val="384653"/>
                          </a:solidFill>
                          <a:latin typeface="Montserrat"/>
                        </a:rPr>
                        <a:t>Turns a score into a reason clinicians can trust</a:t>
                      </a:r>
                    </a:p>
                  </a:txBody>
                  <a:tcPr/>
                </a:tc>
              </a:tr>
            </a:tbl>
          </a:graphicData>
        </a:graphic>
      </p:graphicFrame>
    </p:spTree>
    <p:extLst>
      <p:ext uri="{BB962C8B-B14F-4D97-AF65-F5344CB8AC3E}">
        <p14:creationId xmlns:p14="http://schemas.microsoft.com/office/powerpoint/2010/main" val="5167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Proposed Solution &amp; Innovation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400"/>
              </a:spcAft>
              <a:buSzPct val="100000"/>
              <a:buFontTx/>
              <a:buNone/>
            </a:pPr>
            <a:r>
              <a:rPr sz="1200" b="0">
                <a:solidFill>
                  <a:srgbClr val="384653"/>
                </a:solidFill>
                <a:latin typeface="Montserrat"/>
              </a:rPr>
              <a:t>LabSentinel is a real-time predictive-maintenance system for a whole fleet of hospital and lab instruments.</a:t>
            </a:r>
            <a:endParaRPr lang="en-US" sz="1200" dirty="0">
              <a:solidFill>
                <a:prstClr val="black"/>
              </a:solidFill>
            </a:endParaRPr>
          </a:p>
          <a:p>
            <a:pPr>
              <a:spcBef>
                <a:spcPts val="0"/>
              </a:spcBef>
              <a:spcAft>
                <a:spcPts val="400"/>
              </a:spcAft>
              <a:buNone/>
            </a:pPr>
            <a:r>
              <a:rPr sz="1200" b="1">
                <a:solidFill>
                  <a:srgbClr val="384653"/>
                </a:solidFill>
                <a:latin typeface="Montserrat"/>
              </a:rPr>
              <a:t>Live monitoring: </a:t>
            </a:r>
            <a:r>
              <a:rPr sz="1200" b="0">
                <a:solidFill>
                  <a:srgbClr val="384653"/>
                </a:solidFill>
                <a:latin typeface="Montserrat"/>
              </a:rPr>
              <a:t>every device streams readings and a trained model scores failure risk every 3 seconds.</a:t>
            </a:r>
          </a:p>
          <a:p>
            <a:pPr>
              <a:spcBef>
                <a:spcPts val="0"/>
              </a:spcBef>
              <a:spcAft>
                <a:spcPts val="400"/>
              </a:spcAft>
              <a:buNone/>
            </a:pPr>
            <a:r>
              <a:rPr sz="1200" b="1">
                <a:solidFill>
                  <a:srgbClr val="384653"/>
                </a:solidFill>
                <a:latin typeface="Montserrat"/>
              </a:rPr>
              <a:t>Health score: </a:t>
            </a:r>
            <a:r>
              <a:rPr sz="1200" b="0">
                <a:solidFill>
                  <a:srgbClr val="384653"/>
                </a:solidFill>
                <a:latin typeface="Montserrat"/>
              </a:rPr>
              <a:t>risk becomes a 0 to 100 health score, classified Healthy, Warning, or Critical.</a:t>
            </a:r>
          </a:p>
          <a:p>
            <a:pPr>
              <a:spcBef>
                <a:spcPts val="0"/>
              </a:spcBef>
              <a:spcAft>
                <a:spcPts val="400"/>
              </a:spcAft>
              <a:buNone/>
            </a:pPr>
            <a:r>
              <a:rPr sz="1200" b="1">
                <a:solidFill>
                  <a:srgbClr val="384653"/>
                </a:solidFill>
                <a:latin typeface="Montserrat"/>
              </a:rPr>
              <a:t>Safe-envelope guard: </a:t>
            </a:r>
            <a:r>
              <a:rPr sz="1200" b="0">
                <a:solidFill>
                  <a:srgbClr val="384653"/>
                </a:solidFill>
                <a:latin typeface="Montserrat"/>
              </a:rPr>
              <a:t>hard limit alarms catch gross out-of-range readings the model cannot see.</a:t>
            </a:r>
          </a:p>
          <a:p>
            <a:pPr>
              <a:spcBef>
                <a:spcPts val="0"/>
              </a:spcBef>
              <a:spcAft>
                <a:spcPts val="400"/>
              </a:spcAft>
              <a:buNone/>
            </a:pPr>
            <a:r>
              <a:rPr sz="1200" b="1">
                <a:solidFill>
                  <a:srgbClr val="384653"/>
                </a:solidFill>
                <a:latin typeface="Montserrat"/>
              </a:rPr>
              <a:t>Impact engine: </a:t>
            </a:r>
            <a:r>
              <a:rPr sz="1200" b="0">
                <a:solidFill>
                  <a:srgbClr val="384653"/>
                </a:solidFill>
                <a:latin typeface="Montserrat"/>
              </a:rPr>
              <a:t>ranks alerts by operational priority, so a patient-critical ventilator outranks an idle machine.</a:t>
            </a:r>
          </a:p>
          <a:p>
            <a:pPr>
              <a:spcBef>
                <a:spcPts val="0"/>
              </a:spcBef>
              <a:spcAft>
                <a:spcPts val="400"/>
              </a:spcAft>
              <a:buNone/>
            </a:pPr>
            <a:r>
              <a:rPr sz="1200" b="1">
                <a:solidFill>
                  <a:srgbClr val="384653"/>
                </a:solidFill>
                <a:latin typeface="Montserrat"/>
              </a:rPr>
              <a:t>Memory and agent: </a:t>
            </a:r>
            <a:r>
              <a:rPr sz="1200" b="0">
                <a:solidFill>
                  <a:srgbClr val="384653"/>
                </a:solidFill>
                <a:latin typeface="Montserrat"/>
              </a:rPr>
              <a:t>the system recalls past incidents and drafts a work order with a diagnosis and a technician.</a:t>
            </a:r>
          </a:p>
          <a:p>
            <a:pPr>
              <a:spcBef>
                <a:spcPts val="0"/>
              </a:spcBef>
              <a:spcAft>
                <a:spcPts val="400"/>
              </a:spcAft>
              <a:buNone/>
            </a:pPr>
            <a:r>
              <a:rPr sz="1200" b="1">
                <a:solidFill>
                  <a:srgbClr val="384653"/>
                </a:solidFill>
                <a:latin typeface="Montserrat"/>
              </a:rPr>
              <a:t>Also built in: </a:t>
            </a:r>
            <a:r>
              <a:rPr sz="1200" b="0">
                <a:solidFill>
                  <a:srgbClr val="384653"/>
                </a:solidFill>
                <a:latin typeface="Montserrat"/>
              </a:rPr>
              <a:t>email alert under 80 percent health, a per-device digital twin, and one-shot log-file analysis.</a:t>
            </a:r>
          </a:p>
        </p:txBody>
      </p:sp>
      <p:sp>
        <p:nvSpPr>
          <p:cNvPr id="4" name="Date Placeholder 3"/>
          <p:cNvSpPr>
            <a:spLocks noGrp="1"/>
          </p:cNvSpPr>
          <p:nvPr>
            <p:ph type="dt" sz="half" idx="10"/>
          </p:nvPr>
        </p:nvSpPr>
        <p:spPr/>
        <p:txBody>
          <a:bodyPr/>
          <a:lstStyle/>
          <a:p>
            <a:fld id="{B22BA806-0788-484F-A472-030E326740C8}"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Novelty of Solution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400"/>
              </a:spcAft>
              <a:buSzPct val="100000"/>
              <a:buFontTx/>
              <a:buNone/>
            </a:pPr>
            <a:r>
              <a:rPr sz="1200" b="1">
                <a:solidFill>
                  <a:srgbClr val="384653"/>
                </a:solidFill>
                <a:latin typeface="Montserrat"/>
              </a:rPr>
              <a:t>Honest metrics. </a:t>
            </a:r>
            <a:r>
              <a:rPr sz="1200" b="0">
                <a:solidFill>
                  <a:srgbClr val="384653"/>
                </a:solidFill>
                <a:latin typeface="Montserrat"/>
              </a:rPr>
              <a:t>We report precision, recall, F1 and PR-AUC on the failure class, not accuracy, which is misleading on 3.4 percent failure data.</a:t>
            </a:r>
            <a:endParaRPr lang="en-US" sz="1200" dirty="0">
              <a:solidFill>
                <a:prstClr val="black"/>
              </a:solidFill>
            </a:endParaRPr>
          </a:p>
          <a:p>
            <a:pPr>
              <a:spcBef>
                <a:spcPts val="0"/>
              </a:spcBef>
              <a:spcAft>
                <a:spcPts val="400"/>
              </a:spcAft>
              <a:buNone/>
            </a:pPr>
            <a:r>
              <a:rPr sz="1200" b="1">
                <a:solidFill>
                  <a:srgbClr val="384653"/>
                </a:solidFill>
                <a:latin typeface="Montserrat"/>
              </a:rPr>
              <a:t>Handles mixed sensors. </a:t>
            </a:r>
            <a:r>
              <a:rPr sz="1200" b="0">
                <a:solidFill>
                  <a:srgbClr val="384653"/>
                </a:solidFill>
                <a:latin typeface="Montserrat"/>
              </a:rPr>
              <a:t>Devices report different sensor subsets, so the model is trained with missing-value augmentation and a 2-sensor pump is scored as fairly as a 5-sensor machine.</a:t>
            </a:r>
          </a:p>
          <a:p>
            <a:pPr>
              <a:spcBef>
                <a:spcPts val="0"/>
              </a:spcBef>
              <a:spcAft>
                <a:spcPts val="400"/>
              </a:spcAft>
              <a:buNone/>
            </a:pPr>
            <a:r>
              <a:rPr sz="1200" b="1">
                <a:solidFill>
                  <a:srgbClr val="384653"/>
                </a:solidFill>
                <a:latin typeface="Montserrat"/>
              </a:rPr>
              <a:t>Hybrid scoring. </a:t>
            </a:r>
            <a:r>
              <a:rPr sz="1200" b="0">
                <a:solidFill>
                  <a:srgbClr val="384653"/>
                </a:solidFill>
                <a:latin typeface="Montserrat"/>
              </a:rPr>
              <a:t>Learned ML risk is paired with deterministic limit alarms, the way real condition monitoring works.</a:t>
            </a:r>
          </a:p>
          <a:p>
            <a:pPr>
              <a:spcBef>
                <a:spcPts val="0"/>
              </a:spcBef>
              <a:spcAft>
                <a:spcPts val="400"/>
              </a:spcAft>
              <a:buNone/>
            </a:pPr>
            <a:r>
              <a:rPr sz="1200" b="1">
                <a:solidFill>
                  <a:srgbClr val="384653"/>
                </a:solidFill>
                <a:latin typeface="Montserrat"/>
              </a:rPr>
              <a:t>Operational impact with live failover. </a:t>
            </a:r>
            <a:r>
              <a:rPr sz="1200" b="0">
                <a:solidFill>
                  <a:srgbClr val="384653"/>
                </a:solidFill>
                <a:latin typeface="Montserrat"/>
              </a:rPr>
              <a:t>Priority reflects criticality, active dependents, and whether a healthy backup exists right now.</a:t>
            </a:r>
          </a:p>
          <a:p>
            <a:pPr>
              <a:spcBef>
                <a:spcPts val="0"/>
              </a:spcBef>
              <a:spcAft>
                <a:spcPts val="400"/>
              </a:spcAft>
              <a:buNone/>
            </a:pPr>
            <a:r>
              <a:rPr sz="1200" b="1">
                <a:solidFill>
                  <a:srgbClr val="384653"/>
                </a:solidFill>
                <a:latin typeface="Montserrat"/>
              </a:rPr>
              <a:t>Digital twin. </a:t>
            </a:r>
            <a:r>
              <a:rPr sz="1200" b="0">
                <a:solidFill>
                  <a:srgbClr val="384653"/>
                </a:solidFill>
                <a:latin typeface="Montserrat"/>
              </a:rPr>
              <a:t>Run a device forward under what-if load and ambient to see its projected time to failure.</a:t>
            </a:r>
          </a:p>
          <a:p>
            <a:pPr>
              <a:spcBef>
                <a:spcPts val="0"/>
              </a:spcBef>
              <a:spcAft>
                <a:spcPts val="400"/>
              </a:spcAft>
              <a:buNone/>
            </a:pPr>
            <a:r>
              <a:rPr sz="1200" b="1">
                <a:solidFill>
                  <a:srgbClr val="384653"/>
                </a:solidFill>
                <a:latin typeface="Montserrat"/>
              </a:rPr>
              <a:t>Explainable agent. </a:t>
            </a:r>
            <a:r>
              <a:rPr sz="1200" b="0">
                <a:solidFill>
                  <a:srgbClr val="384653"/>
                </a:solidFill>
                <a:latin typeface="Montserrat"/>
              </a:rPr>
              <a:t>Every alert names the sensors that drove it and cites the fix that worked last time.</a:t>
            </a:r>
          </a:p>
        </p:txBody>
      </p:sp>
      <p:sp>
        <p:nvSpPr>
          <p:cNvPr id="4" name="Date Placeholder 3"/>
          <p:cNvSpPr>
            <a:spLocks noGrp="1"/>
          </p:cNvSpPr>
          <p:nvPr>
            <p:ph type="dt" sz="half" idx="10"/>
          </p:nvPr>
        </p:nvSpPr>
        <p:spPr/>
        <p:txBody>
          <a:bodyPr/>
          <a:lstStyle/>
          <a:p>
            <a:fld id="{B22BA806-0788-484F-A472-030E326740C8}"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59083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2" y="285750"/>
            <a:ext cx="4783857" cy="53206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Dataset Used / Tech Stack</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24128"/>
            <a:ext cx="8193024" cy="1051560"/>
          </a:xfrm>
          <a:prstGeom prst="rect">
            <a:avLst/>
          </a:prstGeom>
          <a:noFill/>
          <a:ln/>
        </p:spPr>
        <p:txBody>
          <a:bodyPr wrap="square" lIns="0" tIns="0" rIns="0" bIns="0" rtlCol="0" anchor="t"/>
          <a:lstStyle/>
          <a:p>
            <a:pPr marL="240018" indent="-240018" defTabSz="640048">
              <a:lnSpc>
                <a:spcPts val="1890"/>
              </a:lnSpc>
              <a:spcBef>
                <a:spcPts val="0"/>
              </a:spcBef>
              <a:spcAft>
                <a:spcPts val="500"/>
              </a:spcAft>
              <a:buSzPct val="100000"/>
              <a:buFontTx/>
              <a:buNone/>
            </a:pPr>
            <a:r>
              <a:rPr sz="1200" b="1">
                <a:solidFill>
                  <a:srgbClr val="384653"/>
                </a:solidFill>
                <a:latin typeface="Montserrat"/>
              </a:rPr>
              <a:t>Datasets</a:t>
            </a:r>
            <a:endParaRPr lang="en-US" sz="1200" dirty="0">
              <a:solidFill>
                <a:prstClr val="black"/>
              </a:solidFill>
            </a:endParaRPr>
          </a:p>
          <a:p>
            <a:pPr>
              <a:spcBef>
                <a:spcPts val="0"/>
              </a:spcBef>
              <a:spcAft>
                <a:spcPts val="500"/>
              </a:spcAft>
              <a:buNone/>
            </a:pPr>
            <a:r>
              <a:rPr sz="1200" b="1">
                <a:solidFill>
                  <a:srgbClr val="384653"/>
                </a:solidFill>
                <a:latin typeface="Montserrat"/>
              </a:rPr>
              <a:t>AI4I 2020 Predictive Maintenance (UCI): </a:t>
            </a:r>
            <a:r>
              <a:rPr sz="1200" b="0">
                <a:solidFill>
                  <a:srgbClr val="384653"/>
                </a:solidFill>
                <a:latin typeface="Montserrat"/>
              </a:rPr>
              <a:t>10,000 rows, about 3.4 percent failures. Used for failure classification.</a:t>
            </a:r>
          </a:p>
          <a:p>
            <a:pPr>
              <a:spcBef>
                <a:spcPts val="0"/>
              </a:spcBef>
              <a:spcAft>
                <a:spcPts val="500"/>
              </a:spcAft>
              <a:buNone/>
            </a:pPr>
            <a:r>
              <a:rPr sz="1200" b="1">
                <a:solidFill>
                  <a:srgbClr val="384653"/>
                </a:solidFill>
                <a:latin typeface="Montserrat"/>
              </a:rPr>
              <a:t>NASA C-MAPSS FD001: </a:t>
            </a:r>
            <a:r>
              <a:rPr sz="1200" b="0">
                <a:solidFill>
                  <a:srgbClr val="384653"/>
                </a:solidFill>
                <a:latin typeface="Montserrat"/>
              </a:rPr>
              <a:t>100 train and 100 test turbofan engines run to failure. Used for RUL regression.</a:t>
            </a:r>
          </a:p>
        </p:txBody>
      </p:sp>
      <p:sp>
        <p:nvSpPr>
          <p:cNvPr id="4" name="Date Placeholder 3"/>
          <p:cNvSpPr>
            <a:spLocks noGrp="1"/>
          </p:cNvSpPr>
          <p:nvPr>
            <p:ph type="dt" sz="half" idx="10"/>
          </p:nvPr>
        </p:nvSpPr>
        <p:spPr/>
        <p:txBody>
          <a:bodyPr/>
          <a:lstStyle/>
          <a:p>
            <a:fld id="{B22BA806-0788-484F-A472-030E326740C8}"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graphicFrame>
        <p:nvGraphicFramePr>
          <p:cNvPr id="10" name="Table 9"/>
          <p:cNvGraphicFramePr>
            <a:graphicFrameLocks noGrp="1"/>
          </p:cNvGraphicFramePr>
          <p:nvPr/>
        </p:nvGraphicFramePr>
        <p:xfrm>
          <a:off x="475488" y="2286000"/>
          <a:ext cx="8193024" cy="2011680"/>
        </p:xfrm>
        <a:graphic>
          <a:graphicData uri="http://schemas.openxmlformats.org/drawingml/2006/table">
            <a:tbl>
              <a:tblPr firstRow="1" bandRow="1">
                <a:tableStyleId>{5C22544A-7EE6-4342-B048-85BDC9FD1C3A}</a:tableStyleId>
              </a:tblPr>
              <a:tblGrid>
                <a:gridCol w="2926080"/>
                <a:gridCol w="5266944"/>
              </a:tblGrid>
              <a:tr h="402336">
                <a:tc>
                  <a:txBody>
                    <a:bodyPr/>
                    <a:lstStyle/>
                    <a:p>
                      <a:r>
                        <a:rPr sz="1100" b="1">
                          <a:solidFill>
                            <a:srgbClr val="1F497D"/>
                          </a:solidFill>
                          <a:latin typeface="Montserrat"/>
                        </a:rPr>
                        <a:t>Layer</a:t>
                      </a:r>
                    </a:p>
                  </a:txBody>
                  <a:tcPr/>
                </a:tc>
                <a:tc>
                  <a:txBody>
                    <a:bodyPr/>
                    <a:lstStyle/>
                    <a:p>
                      <a:r>
                        <a:rPr sz="1100" b="1">
                          <a:solidFill>
                            <a:srgbClr val="1F497D"/>
                          </a:solidFill>
                          <a:latin typeface="Montserrat"/>
                        </a:rPr>
                        <a:t>Technology</a:t>
                      </a:r>
                    </a:p>
                  </a:txBody>
                  <a:tcPr/>
                </a:tc>
              </a:tr>
              <a:tr h="402336">
                <a:tc>
                  <a:txBody>
                    <a:bodyPr/>
                    <a:lstStyle/>
                    <a:p>
                      <a:r>
                        <a:rPr sz="1100" b="0">
                          <a:solidFill>
                            <a:srgbClr val="384653"/>
                          </a:solidFill>
                          <a:latin typeface="Montserrat"/>
                        </a:rPr>
                        <a:t>Model / inference</a:t>
                      </a:r>
                    </a:p>
                  </a:txBody>
                  <a:tcPr/>
                </a:tc>
                <a:tc>
                  <a:txBody>
                    <a:bodyPr/>
                    <a:lstStyle/>
                    <a:p>
                      <a:r>
                        <a:rPr sz="1100" b="0">
                          <a:solidFill>
                            <a:srgbClr val="384653"/>
                          </a:solidFill>
                          <a:latin typeface="Montserrat"/>
                        </a:rPr>
                        <a:t>Python, XGBoost, scikit-learn, FastAPI</a:t>
                      </a:r>
                    </a:p>
                  </a:txBody>
                  <a:tcPr/>
                </a:tc>
              </a:tr>
              <a:tr h="402336">
                <a:tc>
                  <a:txBody>
                    <a:bodyPr/>
                    <a:lstStyle/>
                    <a:p>
                      <a:r>
                        <a:rPr sz="1100" b="0">
                          <a:solidFill>
                            <a:srgbClr val="384653"/>
                          </a:solidFill>
                          <a:latin typeface="Montserrat"/>
                        </a:rPr>
                        <a:t>Backend / real-time</a:t>
                      </a:r>
                    </a:p>
                  </a:txBody>
                  <a:tcPr/>
                </a:tc>
                <a:tc>
                  <a:txBody>
                    <a:bodyPr/>
                    <a:lstStyle/>
                    <a:p>
                      <a:r>
                        <a:rPr sz="1100" b="0">
                          <a:solidFill>
                            <a:srgbClr val="384653"/>
                          </a:solidFill>
                          <a:latin typeface="Montserrat"/>
                        </a:rPr>
                        <a:t>Node.js, Express, Socket.IO, MongoDB</a:t>
                      </a:r>
                    </a:p>
                  </a:txBody>
                  <a:tcPr/>
                </a:tc>
              </a:tr>
              <a:tr h="402336">
                <a:tc>
                  <a:txBody>
                    <a:bodyPr/>
                    <a:lstStyle/>
                    <a:p>
                      <a:r>
                        <a:rPr sz="1100" b="0">
                          <a:solidFill>
                            <a:srgbClr val="384653"/>
                          </a:solidFill>
                          <a:latin typeface="Montserrat"/>
                        </a:rPr>
                        <a:t>Frontend / dashboard</a:t>
                      </a:r>
                    </a:p>
                  </a:txBody>
                  <a:tcPr/>
                </a:tc>
                <a:tc>
                  <a:txBody>
                    <a:bodyPr/>
                    <a:lstStyle/>
                    <a:p>
                      <a:r>
                        <a:rPr sz="1100" b="0">
                          <a:solidFill>
                            <a:srgbClr val="384653"/>
                          </a:solidFill>
                          <a:latin typeface="Montserrat"/>
                        </a:rPr>
                        <a:t>React, Vite, Tailwind, Recharts</a:t>
                      </a:r>
                    </a:p>
                  </a:txBody>
                  <a:tcPr/>
                </a:tc>
              </a:tr>
              <a:tr h="402336">
                <a:tc>
                  <a:txBody>
                    <a:bodyPr/>
                    <a:lstStyle/>
                    <a:p>
                      <a:r>
                        <a:rPr sz="1100" b="0">
                          <a:solidFill>
                            <a:srgbClr val="384653"/>
                          </a:solidFill>
                          <a:latin typeface="Montserrat"/>
                        </a:rPr>
                        <a:t>Alerts</a:t>
                      </a:r>
                    </a:p>
                  </a:txBody>
                  <a:tcPr/>
                </a:tc>
                <a:tc>
                  <a:txBody>
                    <a:bodyPr/>
                    <a:lstStyle/>
                    <a:p>
                      <a:r>
                        <a:rPr sz="1100" b="0">
                          <a:solidFill>
                            <a:srgbClr val="384653"/>
                          </a:solidFill>
                          <a:latin typeface="Montserrat"/>
                        </a:rPr>
                        <a:t>Nodemailer over SMTP</a:t>
                      </a:r>
                    </a:p>
                  </a:txBody>
                  <a:tcPr/>
                </a:tc>
              </a:tr>
            </a:tbl>
          </a:graphicData>
        </a:graphic>
      </p:graphicFrame>
    </p:spTree>
    <p:extLst>
      <p:ext uri="{BB962C8B-B14F-4D97-AF65-F5344CB8AC3E}">
        <p14:creationId xmlns:p14="http://schemas.microsoft.com/office/powerpoint/2010/main" val="2613274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61950"/>
            <a:ext cx="3563466" cy="45586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Technical Architecture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24128"/>
            <a:ext cx="8193024" cy="777240"/>
          </a:xfrm>
          <a:prstGeom prst="rect">
            <a:avLst/>
          </a:prstGeom>
          <a:noFill/>
          <a:ln/>
        </p:spPr>
        <p:txBody>
          <a:bodyPr wrap="square" lIns="0" tIns="0" rIns="0" bIns="0" rtlCol="0" anchor="t"/>
          <a:lstStyle/>
          <a:p>
            <a:pPr marL="240018" indent="-240018" defTabSz="640048">
              <a:lnSpc>
                <a:spcPts val="1890"/>
              </a:lnSpc>
              <a:spcBef>
                <a:spcPts val="0"/>
              </a:spcBef>
              <a:spcAft>
                <a:spcPts val="500"/>
              </a:spcAft>
              <a:buSzPct val="100000"/>
              <a:buFontTx/>
              <a:buNone/>
            </a:pPr>
            <a:r>
              <a:rPr sz="1200" b="0">
                <a:solidFill>
                  <a:srgbClr val="384653"/>
                </a:solidFill>
                <a:latin typeface="Montserrat"/>
              </a:rPr>
              <a:t>The model is trained once, offline. In the live app it only runs inference. Three services score each reading, guard it, turn it into health and priority, explain it, and push to the dashboard in real time.</a:t>
            </a:r>
            <a:endParaRPr lang="en-US" sz="1200" dirty="0">
              <a:solidFill>
                <a:prstClr val="black"/>
              </a:solidFill>
            </a:endParaRPr>
          </a:p>
        </p:txBody>
      </p:sp>
      <p:sp>
        <p:nvSpPr>
          <p:cNvPr id="4" name="Date Placeholder 3"/>
          <p:cNvSpPr>
            <a:spLocks noGrp="1"/>
          </p:cNvSpPr>
          <p:nvPr>
            <p:ph type="dt" sz="half" idx="10"/>
          </p:nvPr>
        </p:nvSpPr>
        <p:spPr/>
        <p:txBody>
          <a:bodyPr/>
          <a:lstStyle/>
          <a:p>
            <a:fld id="{BDDC79FE-672B-43FD-8EEE-5F62076411EE}"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10" name="Picture 9" descr="workflow.png"/>
          <p:cNvPicPr>
            <a:picLocks noChangeAspect="1"/>
          </p:cNvPicPr>
          <p:nvPr/>
        </p:nvPicPr>
        <p:blipFill>
          <a:blip r:embed="rId2"/>
          <a:stretch>
            <a:fillRect/>
          </a:stretch>
        </p:blipFill>
        <p:spPr>
          <a:xfrm>
            <a:off x="977429" y="1828800"/>
            <a:ext cx="7189141" cy="2788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3" y="372370"/>
            <a:ext cx="3563466"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Implementation / Prototype</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24128"/>
            <a:ext cx="8193024" cy="1783080"/>
          </a:xfrm>
          <a:prstGeom prst="rect">
            <a:avLst/>
          </a:prstGeom>
          <a:noFill/>
          <a:ln/>
        </p:spPr>
        <p:txBody>
          <a:bodyPr wrap="square" lIns="0" tIns="0" rIns="0" bIns="0" rtlCol="0" anchor="t"/>
          <a:lstStyle/>
          <a:p>
            <a:pPr marL="240018" indent="-240018" defTabSz="640048">
              <a:lnSpc>
                <a:spcPts val="1890"/>
              </a:lnSpc>
              <a:spcBef>
                <a:spcPts val="0"/>
              </a:spcBef>
              <a:spcAft>
                <a:spcPts val="300"/>
              </a:spcAft>
              <a:buSzPct val="100000"/>
              <a:buFontTx/>
              <a:buNone/>
            </a:pPr>
            <a:r>
              <a:rPr sz="1200" b="0">
                <a:solidFill>
                  <a:srgbClr val="384653"/>
                </a:solidFill>
                <a:latin typeface="Montserrat"/>
              </a:rPr>
              <a:t>A working prototype runs the full pipeline across a simulated fleet of 38 devices in 8 categories, updated every 3 seconds.</a:t>
            </a:r>
            <a:endParaRPr lang="en-US" sz="1200" dirty="0">
              <a:solidFill>
                <a:prstClr val="black"/>
              </a:solidFill>
            </a:endParaRPr>
          </a:p>
          <a:p>
            <a:pPr>
              <a:spcBef>
                <a:spcPts val="0"/>
              </a:spcBef>
              <a:spcAft>
                <a:spcPts val="300"/>
              </a:spcAft>
              <a:buNone/>
            </a:pPr>
            <a:r>
              <a:rPr sz="1200" b="1">
                <a:solidFill>
                  <a:srgbClr val="384653"/>
                </a:solidFill>
                <a:latin typeface="Montserrat"/>
              </a:rPr>
              <a:t>Simulate Failure </a:t>
            </a:r>
            <a:r>
              <a:rPr sz="1200" b="0">
                <a:solidFill>
                  <a:srgbClr val="384653"/>
                </a:solidFill>
                <a:latin typeface="Montserrat"/>
              </a:rPr>
              <a:t>ramps any device into a real failure regime for a live demo.</a:t>
            </a:r>
          </a:p>
          <a:p>
            <a:pPr>
              <a:spcBef>
                <a:spcPts val="0"/>
              </a:spcBef>
              <a:spcAft>
                <a:spcPts val="300"/>
              </a:spcAft>
              <a:buNone/>
            </a:pPr>
            <a:r>
              <a:rPr sz="1200" b="1">
                <a:solidFill>
                  <a:srgbClr val="384653"/>
                </a:solidFill>
                <a:latin typeface="Montserrat"/>
              </a:rPr>
              <a:t>Device detail: </a:t>
            </a:r>
            <a:r>
              <a:rPr sz="1200" b="0">
                <a:solidFill>
                  <a:srgbClr val="384653"/>
                </a:solidFill>
                <a:latin typeface="Montserrat"/>
              </a:rPr>
              <a:t>trend, ML factors, impact priority, the agent work order, and memory.</a:t>
            </a:r>
          </a:p>
          <a:p>
            <a:pPr>
              <a:spcBef>
                <a:spcPts val="0"/>
              </a:spcBef>
              <a:spcAft>
                <a:spcPts val="300"/>
              </a:spcAft>
              <a:buNone/>
            </a:pPr>
            <a:r>
              <a:rPr sz="1200" b="1">
                <a:solidFill>
                  <a:srgbClr val="384653"/>
                </a:solidFill>
                <a:latin typeface="Montserrat"/>
              </a:rPr>
              <a:t>Digital Twin tab: </a:t>
            </a:r>
            <a:r>
              <a:rPr sz="1200" b="0">
                <a:solidFill>
                  <a:srgbClr val="384653"/>
                </a:solidFill>
                <a:latin typeface="Montserrat"/>
              </a:rPr>
              <a:t>residuals, what-if sliders, and a time-to-failure projection.</a:t>
            </a:r>
          </a:p>
          <a:p>
            <a:pPr>
              <a:spcBef>
                <a:spcPts val="0"/>
              </a:spcBef>
              <a:spcAft>
                <a:spcPts val="300"/>
              </a:spcAft>
              <a:buNone/>
            </a:pPr>
            <a:r>
              <a:rPr sz="1200" b="1">
                <a:solidFill>
                  <a:srgbClr val="384653"/>
                </a:solidFill>
                <a:latin typeface="Montserrat"/>
              </a:rPr>
              <a:t>Analyze Log File: </a:t>
            </a:r>
            <a:r>
              <a:rPr sz="1200" b="0">
                <a:solidFill>
                  <a:srgbClr val="384653"/>
                </a:solidFill>
                <a:latin typeface="Montserrat"/>
              </a:rPr>
              <a:t>drop in a device log for a one-shot diagnosis.</a:t>
            </a:r>
          </a:p>
        </p:txBody>
      </p:sp>
      <p:sp>
        <p:nvSpPr>
          <p:cNvPr id="4" name="Date Placeholder 3"/>
          <p:cNvSpPr>
            <a:spLocks noGrp="1"/>
          </p:cNvSpPr>
          <p:nvPr>
            <p:ph type="dt" sz="half" idx="10"/>
          </p:nvPr>
        </p:nvSpPr>
        <p:spPr/>
        <p:txBody>
          <a:bodyPr/>
          <a:lstStyle/>
          <a:p>
            <a:fld id="{D310B5FF-D8D4-4079-90BB-8D8138687927}"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11"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12" name="Picture 11" descr="fleet_crop.png"/>
          <p:cNvPicPr>
            <a:picLocks noChangeAspect="1"/>
          </p:cNvPicPr>
          <p:nvPr/>
        </p:nvPicPr>
        <p:blipFill>
          <a:blip r:embed="rId2"/>
          <a:stretch>
            <a:fillRect/>
          </a:stretch>
        </p:blipFill>
        <p:spPr>
          <a:xfrm>
            <a:off x="1737360" y="2926080"/>
            <a:ext cx="5669280" cy="1342724"/>
          </a:xfrm>
          <a:prstGeom prst="rect">
            <a:avLst/>
          </a:prstGeom>
        </p:spPr>
      </p:pic>
      <p:sp>
        <p:nvSpPr>
          <p:cNvPr id="13" name="TextBox 12"/>
          <p:cNvSpPr txBox="1"/>
          <p:nvPr/>
        </p:nvSpPr>
        <p:spPr>
          <a:xfrm>
            <a:off x="1737360" y="4370832"/>
            <a:ext cx="5669280" cy="274320"/>
          </a:xfrm>
          <a:prstGeom prst="rect">
            <a:avLst/>
          </a:prstGeom>
          <a:noFill/>
        </p:spPr>
        <p:txBody>
          <a:bodyPr wrap="none">
            <a:spAutoFit/>
          </a:bodyPr>
          <a:lstStyle/>
          <a:p>
            <a:pPr algn="ctr"/>
            <a:r>
              <a:rPr sz="900" b="0">
                <a:solidFill>
                  <a:srgbClr val="6B7A88"/>
                </a:solidFill>
                <a:latin typeface="Montserrat"/>
              </a:rPr>
              <a:t>Live fleet: device health rings, statuses, and the alerts panel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Feasibility &amp; Impact</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500"/>
              </a:spcAft>
              <a:buSzPct val="100000"/>
              <a:buFontTx/>
              <a:buNone/>
            </a:pPr>
            <a:r>
              <a:rPr sz="1200" b="1">
                <a:solidFill>
                  <a:srgbClr val="384653"/>
                </a:solidFill>
                <a:latin typeface="Montserrat"/>
              </a:rPr>
              <a:t>Feasibility. </a:t>
            </a:r>
            <a:r>
              <a:rPr sz="1200" b="0">
                <a:solidFill>
                  <a:srgbClr val="384653"/>
                </a:solidFill>
                <a:latin typeface="Montserrat"/>
              </a:rPr>
              <a:t>Runs with no IoT hardware for the demo using a faithful simulator, and accepts real device telemetry in the same format. Services are modular, cloud-deployable, and degrade gracefully if the database or model service is offline.</a:t>
            </a:r>
            <a:endParaRPr lang="en-US" sz="1200" dirty="0">
              <a:solidFill>
                <a:prstClr val="black"/>
              </a:solidFill>
            </a:endParaRPr>
          </a:p>
          <a:p>
            <a:pPr>
              <a:spcBef>
                <a:spcPts val="0"/>
              </a:spcBef>
              <a:spcAft>
                <a:spcPts val="500"/>
              </a:spcAft>
              <a:buNone/>
            </a:pPr>
            <a:r>
              <a:rPr sz="1200" b="1">
                <a:solidFill>
                  <a:srgbClr val="384653"/>
                </a:solidFill>
                <a:latin typeface="Montserrat"/>
              </a:rPr>
              <a:t>Social impact. </a:t>
            </a:r>
            <a:r>
              <a:rPr sz="1200" b="0">
                <a:solidFill>
                  <a:srgbClr val="384653"/>
                </a:solidFill>
                <a:latin typeface="Montserrat"/>
              </a:rPr>
              <a:t>Fewer surprise failures means safer patients and fewer delayed treatments and lab results.</a:t>
            </a:r>
          </a:p>
          <a:p>
            <a:pPr>
              <a:spcBef>
                <a:spcPts val="0"/>
              </a:spcBef>
              <a:spcAft>
                <a:spcPts val="500"/>
              </a:spcAft>
              <a:buNone/>
            </a:pPr>
            <a:r>
              <a:rPr sz="1200" b="1">
                <a:solidFill>
                  <a:srgbClr val="384653"/>
                </a:solidFill>
                <a:latin typeface="Montserrat"/>
              </a:rPr>
              <a:t>Business impact. </a:t>
            </a:r>
            <a:r>
              <a:rPr sz="1200" b="0">
                <a:solidFill>
                  <a:srgbClr val="384653"/>
                </a:solidFill>
                <a:latin typeface="Montserrat"/>
              </a:rPr>
              <a:t>Lower downtime and repair cost, better use of technicians, and planning driven by priority.</a:t>
            </a:r>
          </a:p>
          <a:p>
            <a:pPr>
              <a:spcBef>
                <a:spcPts val="0"/>
              </a:spcBef>
              <a:spcAft>
                <a:spcPts val="500"/>
              </a:spcAft>
              <a:buNone/>
            </a:pPr>
            <a:r>
              <a:rPr sz="1200" b="1">
                <a:solidFill>
                  <a:srgbClr val="384653"/>
                </a:solidFill>
                <a:latin typeface="Montserrat"/>
              </a:rPr>
              <a:t>Scale. </a:t>
            </a:r>
            <a:r>
              <a:rPr sz="1200" b="0">
                <a:solidFill>
                  <a:srgbClr val="384653"/>
                </a:solidFill>
                <a:latin typeface="Montserrat"/>
              </a:rPr>
              <a:t>Grows from a single lab to many hospitals on the same architecture.</a:t>
            </a:r>
          </a:p>
        </p:txBody>
      </p:sp>
      <p:sp>
        <p:nvSpPr>
          <p:cNvPr id="4" name="Date Placeholder 3"/>
          <p:cNvSpPr>
            <a:spLocks noGrp="1"/>
          </p:cNvSpPr>
          <p:nvPr>
            <p:ph type="dt" sz="half" idx="10"/>
          </p:nvPr>
        </p:nvSpPr>
        <p:spPr/>
        <p:txBody>
          <a:bodyPr/>
          <a:lstStyle/>
          <a:p>
            <a:fld id="{8A5DE2DC-1EE4-4990-88C8-F6B0047E5106}"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Results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24128"/>
            <a:ext cx="8193024" cy="457200"/>
          </a:xfrm>
          <a:prstGeom prst="rect">
            <a:avLst/>
          </a:prstGeom>
          <a:noFill/>
          <a:ln/>
        </p:spPr>
        <p:txBody>
          <a:bodyPr wrap="square" lIns="0" tIns="0" rIns="0" bIns="0" rtlCol="0" anchor="t"/>
          <a:lstStyle/>
          <a:p>
            <a:pPr marL="240018" indent="-240018" defTabSz="640048">
              <a:lnSpc>
                <a:spcPts val="1890"/>
              </a:lnSpc>
              <a:spcBef>
                <a:spcPts val="0"/>
              </a:spcBef>
              <a:spcAft>
                <a:spcPts val="500"/>
              </a:spcAft>
              <a:buSzPct val="100000"/>
              <a:buFontTx/>
              <a:buNone/>
            </a:pPr>
            <a:r>
              <a:rPr sz="1200" b="0">
                <a:solidFill>
                  <a:srgbClr val="384653"/>
                </a:solidFill>
                <a:latin typeface="Montserrat"/>
              </a:rPr>
              <a:t>Reported on held-out data, on the failure class.</a:t>
            </a:r>
            <a:endParaRPr lang="en-US" sz="1200" dirty="0">
              <a:solidFill>
                <a:prstClr val="black"/>
              </a:solidFill>
            </a:endParaRPr>
          </a:p>
        </p:txBody>
      </p:sp>
      <p:sp>
        <p:nvSpPr>
          <p:cNvPr id="4" name="Date Placeholder 3"/>
          <p:cNvSpPr>
            <a:spLocks noGrp="1"/>
          </p:cNvSpPr>
          <p:nvPr>
            <p:ph type="dt" sz="half" idx="10"/>
          </p:nvPr>
        </p:nvSpPr>
        <p:spPr/>
        <p:txBody>
          <a:bodyPr/>
          <a:lstStyle/>
          <a:p>
            <a:fld id="{8A5DE2DC-1EE4-4990-88C8-F6B0047E5106}"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8" name="Picture 7" descr="results.png"/>
          <p:cNvPicPr>
            <a:picLocks noChangeAspect="1"/>
          </p:cNvPicPr>
          <p:nvPr/>
        </p:nvPicPr>
        <p:blipFill>
          <a:blip r:embed="rId2"/>
          <a:stretch>
            <a:fillRect/>
          </a:stretch>
        </p:blipFill>
        <p:spPr>
          <a:xfrm>
            <a:off x="365760" y="1600200"/>
            <a:ext cx="4297680" cy="2633675"/>
          </a:xfrm>
          <a:prstGeom prst="rect">
            <a:avLst/>
          </a:prstGeom>
        </p:spPr>
      </p:pic>
      <p:sp>
        <p:nvSpPr>
          <p:cNvPr id="9" name="TextBox 8"/>
          <p:cNvSpPr txBox="1"/>
          <p:nvPr/>
        </p:nvSpPr>
        <p:spPr>
          <a:xfrm>
            <a:off x="4892040" y="1600200"/>
            <a:ext cx="3840480" cy="2834640"/>
          </a:xfrm>
          <a:prstGeom prst="rect">
            <a:avLst/>
          </a:prstGeom>
          <a:noFill/>
        </p:spPr>
        <p:txBody>
          <a:bodyPr wrap="square">
            <a:spAutoFit/>
          </a:bodyPr>
          <a:lstStyle/>
          <a:p>
            <a:pPr>
              <a:spcAft>
                <a:spcPts val="200"/>
              </a:spcAft>
            </a:pPr>
            <a:r>
              <a:rPr sz="1200" b="1">
                <a:solidFill>
                  <a:srgbClr val="384653"/>
                </a:solidFill>
                <a:latin typeface="Montserrat"/>
              </a:rPr>
              <a:t>RUL model (NASA C-MAPSS FD001)</a:t>
            </a:r>
          </a:p>
          <a:p>
            <a:pPr>
              <a:spcAft>
                <a:spcPts val="900"/>
              </a:spcAft>
            </a:pPr>
            <a:r>
              <a:rPr sz="1200" b="0">
                <a:solidFill>
                  <a:srgbClr val="384653"/>
                </a:solidFill>
                <a:latin typeface="Montserrat"/>
              </a:rPr>
              <a:t>RMSE 18.89 cycles, R2 0.79, MAE 13.6</a:t>
            </a:r>
          </a:p>
          <a:p>
            <a:pPr>
              <a:spcAft>
                <a:spcPts val="200"/>
              </a:spcAft>
            </a:pPr>
            <a:r>
              <a:rPr sz="1200" b="1">
                <a:solidFill>
                  <a:srgbClr val="384653"/>
                </a:solidFill>
                <a:latin typeface="Montserrat"/>
              </a:rPr>
              <a:t>Live fleet</a:t>
            </a:r>
          </a:p>
          <a:p>
            <a:pPr>
              <a:spcAft>
                <a:spcPts val="900"/>
              </a:spcAft>
            </a:pPr>
            <a:r>
              <a:rPr sz="1200" b="0">
                <a:solidFill>
                  <a:srgbClr val="384653"/>
                </a:solidFill>
                <a:latin typeface="Montserrat"/>
              </a:rPr>
              <a:t>38 devices scored every 3 seconds, no retraining in the loop</a:t>
            </a:r>
          </a:p>
          <a:p>
            <a:pPr>
              <a:spcAft>
                <a:spcPts val="200"/>
              </a:spcAft>
            </a:pPr>
            <a:r>
              <a:rPr sz="1200" b="1">
                <a:solidFill>
                  <a:srgbClr val="384653"/>
                </a:solidFill>
                <a:latin typeface="Montserrat"/>
              </a:rPr>
              <a:t>Why no accuracy figure</a:t>
            </a:r>
          </a:p>
          <a:p>
            <a:pPr>
              <a:spcAft>
                <a:spcPts val="0"/>
              </a:spcAft>
            </a:pPr>
            <a:r>
              <a:rPr sz="1100" b="0">
                <a:solidFill>
                  <a:srgbClr val="384653"/>
                </a:solidFill>
                <a:latin typeface="Montserrat"/>
              </a:rPr>
              <a:t>On 3.4 percent failure data, accuracy hides a model that never predicts a failure, so we leave it out on purpose.</a:t>
            </a:r>
          </a:p>
        </p:txBody>
      </p:sp>
    </p:spTree>
    <p:extLst>
      <p:ext uri="{BB962C8B-B14F-4D97-AF65-F5344CB8AC3E}">
        <p14:creationId xmlns:p14="http://schemas.microsoft.com/office/powerpoint/2010/main" val="2573755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Screenshots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3943" y="1024128"/>
            <a:ext cx="8196114" cy="365760"/>
          </a:xfrm>
          <a:prstGeom prst="rect">
            <a:avLst/>
          </a:prstGeom>
          <a:noFill/>
          <a:ln/>
        </p:spPr>
        <p:txBody>
          <a:bodyPr wrap="none" lIns="0" tIns="0" rIns="0" bIns="0" rtlCol="0" anchor="t"/>
          <a:lstStyle/>
          <a:p>
            <a:pPr marL="240018" indent="-240018" defTabSz="640048">
              <a:lnSpc>
                <a:spcPts val="1890"/>
              </a:lnSpc>
              <a:buSzPct val="100000"/>
              <a:buFontTx/>
              <a:buNone/>
            </a:pPr>
            <a:r>
              <a:rPr sz="1200" b="0">
                <a:solidFill>
                  <a:srgbClr val="384653"/>
                </a:solidFill>
                <a:latin typeface="Montserrat"/>
              </a:rPr>
              <a:t>From the running prototype.</a:t>
            </a:r>
            <a:endParaRPr lang="en-US" sz="1200" dirty="0">
              <a:solidFill>
                <a:prstClr val="black"/>
              </a:solidFill>
            </a:endParaRPr>
          </a:p>
        </p:txBody>
      </p:sp>
      <p:sp>
        <p:nvSpPr>
          <p:cNvPr id="4" name="Date Placeholder 3"/>
          <p:cNvSpPr>
            <a:spLocks noGrp="1"/>
          </p:cNvSpPr>
          <p:nvPr>
            <p:ph type="dt" sz="half" idx="10"/>
          </p:nvPr>
        </p:nvSpPr>
        <p:spPr/>
        <p:txBody>
          <a:bodyPr/>
          <a:lstStyle/>
          <a:p>
            <a:fld id="{8A5DE2DC-1EE4-4990-88C8-F6B0047E5106}"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pic>
        <p:nvPicPr>
          <p:cNvPr id="8" name="Picture 7" descr="da98d6a3-image.png"/>
          <p:cNvPicPr>
            <a:picLocks noChangeAspect="1"/>
          </p:cNvPicPr>
          <p:nvPr/>
        </p:nvPicPr>
        <p:blipFill>
          <a:blip r:embed="rId2"/>
          <a:stretch>
            <a:fillRect/>
          </a:stretch>
        </p:blipFill>
        <p:spPr>
          <a:xfrm>
            <a:off x="577719" y="1463040"/>
            <a:ext cx="3599441" cy="3108960"/>
          </a:xfrm>
          <a:prstGeom prst="rect">
            <a:avLst/>
          </a:prstGeom>
        </p:spPr>
      </p:pic>
      <p:pic>
        <p:nvPicPr>
          <p:cNvPr id="9" name="Picture 8" descr="60d8a22d-image.png"/>
          <p:cNvPicPr>
            <a:picLocks noChangeAspect="1"/>
          </p:cNvPicPr>
          <p:nvPr/>
        </p:nvPicPr>
        <p:blipFill>
          <a:blip r:embed="rId3"/>
          <a:stretch>
            <a:fillRect/>
          </a:stretch>
        </p:blipFill>
        <p:spPr>
          <a:xfrm>
            <a:off x="5105775" y="1463040"/>
            <a:ext cx="3321568" cy="3108960"/>
          </a:xfrm>
          <a:prstGeom prst="rect">
            <a:avLst/>
          </a:prstGeom>
        </p:spPr>
      </p:pic>
      <p:sp>
        <p:nvSpPr>
          <p:cNvPr id="10" name="TextBox 9"/>
          <p:cNvSpPr txBox="1"/>
          <p:nvPr/>
        </p:nvSpPr>
        <p:spPr>
          <a:xfrm>
            <a:off x="502920" y="4617720"/>
            <a:ext cx="3749039" cy="274320"/>
          </a:xfrm>
          <a:prstGeom prst="rect">
            <a:avLst/>
          </a:prstGeom>
          <a:noFill/>
        </p:spPr>
        <p:txBody>
          <a:bodyPr wrap="none">
            <a:spAutoFit/>
          </a:bodyPr>
          <a:lstStyle/>
          <a:p>
            <a:pPr algn="ctr"/>
            <a:r>
              <a:rPr sz="900" b="0">
                <a:solidFill>
                  <a:srgbClr val="6B7A88"/>
                </a:solidFill>
                <a:latin typeface="Montserrat"/>
              </a:rPr>
              <a:t>RUL projection and explainable risk factors</a:t>
            </a:r>
          </a:p>
        </p:txBody>
      </p:sp>
      <p:sp>
        <p:nvSpPr>
          <p:cNvPr id="11" name="TextBox 10"/>
          <p:cNvSpPr txBox="1"/>
          <p:nvPr/>
        </p:nvSpPr>
        <p:spPr>
          <a:xfrm>
            <a:off x="4892040" y="4617720"/>
            <a:ext cx="3749039" cy="274320"/>
          </a:xfrm>
          <a:prstGeom prst="rect">
            <a:avLst/>
          </a:prstGeom>
          <a:noFill/>
        </p:spPr>
        <p:txBody>
          <a:bodyPr wrap="none">
            <a:spAutoFit/>
          </a:bodyPr>
          <a:lstStyle/>
          <a:p>
            <a:pPr algn="ctr"/>
            <a:r>
              <a:rPr sz="900" b="0">
                <a:solidFill>
                  <a:srgbClr val="6B7A88"/>
                </a:solidFill>
                <a:latin typeface="Montserrat"/>
              </a:rPr>
              <a:t>Autonomous agent work order and impact priority</a:t>
            </a:r>
          </a:p>
        </p:txBody>
      </p:sp>
    </p:spTree>
    <p:extLst>
      <p:ext uri="{BB962C8B-B14F-4D97-AF65-F5344CB8AC3E}">
        <p14:creationId xmlns:p14="http://schemas.microsoft.com/office/powerpoint/2010/main" val="2640987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smtClean="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Future Enhancements</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500"/>
              </a:spcAft>
              <a:buSzPct val="100000"/>
              <a:buFontTx/>
              <a:buNone/>
            </a:pPr>
            <a:r>
              <a:rPr sz="1200" b="1">
                <a:solidFill>
                  <a:srgbClr val="384653"/>
                </a:solidFill>
                <a:latin typeface="Montserrat"/>
              </a:rPr>
              <a:t>Fleet digital twin: </a:t>
            </a:r>
            <a:r>
              <a:rPr sz="1200" b="0">
                <a:solidFill>
                  <a:srgbClr val="384653"/>
                </a:solidFill>
                <a:latin typeface="Montserrat"/>
              </a:rPr>
              <a:t>a floor-map of the hospital and lab with a live risk heatmap.</a:t>
            </a:r>
            <a:endParaRPr lang="en-US" sz="1200" dirty="0">
              <a:solidFill>
                <a:prstClr val="black"/>
              </a:solidFill>
            </a:endParaRPr>
          </a:p>
          <a:p>
            <a:pPr>
              <a:spcBef>
                <a:spcPts val="0"/>
              </a:spcBef>
              <a:spcAft>
                <a:spcPts val="500"/>
              </a:spcAft>
              <a:buNone/>
            </a:pPr>
            <a:r>
              <a:rPr sz="1200" b="1">
                <a:solidFill>
                  <a:srgbClr val="384653"/>
                </a:solidFill>
                <a:latin typeface="Montserrat"/>
              </a:rPr>
              <a:t>Unsupervised anomaly layer: </a:t>
            </a:r>
            <a:r>
              <a:rPr sz="1200" b="0">
                <a:solidFill>
                  <a:srgbClr val="384653"/>
                </a:solidFill>
                <a:latin typeface="Montserrat"/>
              </a:rPr>
              <a:t>monitor any device with no labels, so off-schema logs are covered.</a:t>
            </a:r>
          </a:p>
          <a:p>
            <a:pPr>
              <a:spcBef>
                <a:spcPts val="0"/>
              </a:spcBef>
              <a:spcAft>
                <a:spcPts val="500"/>
              </a:spcAft>
              <a:buNone/>
            </a:pPr>
            <a:r>
              <a:rPr sz="1200" b="1">
                <a:solidFill>
                  <a:srgbClr val="384653"/>
                </a:solidFill>
                <a:latin typeface="Montserrat"/>
              </a:rPr>
              <a:t>Agent-driven onboarding: </a:t>
            </a:r>
            <a:r>
              <a:rPr sz="1200" b="0">
                <a:solidFill>
                  <a:srgbClr val="384653"/>
                </a:solidFill>
                <a:latin typeface="Montserrat"/>
              </a:rPr>
              <a:t>read any log, map its columns, and route it to the right model.</a:t>
            </a:r>
          </a:p>
          <a:p>
            <a:pPr>
              <a:spcBef>
                <a:spcPts val="0"/>
              </a:spcBef>
              <a:spcAft>
                <a:spcPts val="500"/>
              </a:spcAft>
              <a:buNone/>
            </a:pPr>
            <a:r>
              <a:rPr sz="1200" b="1">
                <a:solidFill>
                  <a:srgbClr val="384653"/>
                </a:solidFill>
                <a:latin typeface="Montserrat"/>
              </a:rPr>
              <a:t>Per-device RUL model: </a:t>
            </a:r>
            <a:r>
              <a:rPr sz="1200" b="0">
                <a:solidFill>
                  <a:srgbClr val="384653"/>
                </a:solidFill>
                <a:latin typeface="Montserrat"/>
              </a:rPr>
              <a:t>trained on the fleet's own degradation for a learned remaining life.</a:t>
            </a:r>
          </a:p>
          <a:p>
            <a:pPr>
              <a:spcBef>
                <a:spcPts val="0"/>
              </a:spcBef>
              <a:spcAft>
                <a:spcPts val="500"/>
              </a:spcAft>
              <a:buNone/>
            </a:pPr>
            <a:r>
              <a:rPr sz="1200" b="1">
                <a:solidFill>
                  <a:srgbClr val="384653"/>
                </a:solidFill>
                <a:latin typeface="Montserrat"/>
              </a:rPr>
              <a:t>Deployment: </a:t>
            </a:r>
            <a:r>
              <a:rPr sz="1200" b="0">
                <a:solidFill>
                  <a:srgbClr val="384653"/>
                </a:solidFill>
                <a:latin typeface="Montserrat"/>
              </a:rPr>
              <a:t>mobile alerts, role-based access, and real IoT integration.</a:t>
            </a:r>
          </a:p>
        </p:txBody>
      </p:sp>
      <p:sp>
        <p:nvSpPr>
          <p:cNvPr id="4" name="Date Placeholder 3"/>
          <p:cNvSpPr>
            <a:spLocks noGrp="1"/>
          </p:cNvSpPr>
          <p:nvPr>
            <p:ph type="dt" sz="half" idx="10"/>
          </p:nvPr>
        </p:nvSpPr>
        <p:spPr/>
        <p:txBody>
          <a:bodyPr/>
          <a:lstStyle/>
          <a:p>
            <a:fld id="{8A5DE2DC-1EE4-4990-88C8-F6B0047E5106}"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7"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254451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73945" y="372370"/>
            <a:ext cx="4787949" cy="445442"/>
          </a:xfrm>
          <a:prstGeom prst="rect">
            <a:avLst/>
          </a:prstGeom>
          <a:noFill/>
          <a:ln/>
        </p:spPr>
        <p:txBody>
          <a:bodyPr wrap="none" lIns="0" tIns="0" rIns="0" bIns="0" rtlCol="0" anchor="t"/>
          <a:lstStyle/>
          <a:p>
            <a:pPr defTabSz="640048">
              <a:lnSpc>
                <a:spcPts val="3920"/>
              </a:lnSpc>
            </a:pPr>
            <a:r>
              <a:rPr lang="en-US" sz="2400" b="1" dirty="0">
                <a:solidFill>
                  <a:schemeClr val="accent1">
                    <a:lumMod val="75000"/>
                  </a:schemeClr>
                </a:solidFill>
                <a:latin typeface="Times New Roman" panose="02020603050405020304" pitchFamily="18" charset="0"/>
                <a:ea typeface="Barlow Bold" pitchFamily="34" charset="-122"/>
                <a:cs typeface="Times New Roman" panose="02020603050405020304" pitchFamily="18" charset="0"/>
              </a:rPr>
              <a:t>Conclusion</a:t>
            </a:r>
            <a:endParaRPr lang="en-US" sz="24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Text 1"/>
          <p:cNvSpPr/>
          <p:nvPr/>
        </p:nvSpPr>
        <p:spPr>
          <a:xfrm>
            <a:off x="475488" y="1051560"/>
            <a:ext cx="8193024" cy="3520440"/>
          </a:xfrm>
          <a:prstGeom prst="rect">
            <a:avLst/>
          </a:prstGeom>
          <a:noFill/>
          <a:ln/>
        </p:spPr>
        <p:txBody>
          <a:bodyPr wrap="square" lIns="0" tIns="0" rIns="0" bIns="0" rtlCol="0" anchor="ctr"/>
          <a:lstStyle/>
          <a:p>
            <a:pPr marL="240018" indent="-240018" defTabSz="640048">
              <a:lnSpc>
                <a:spcPts val="1890"/>
              </a:lnSpc>
              <a:spcBef>
                <a:spcPts val="0"/>
              </a:spcBef>
              <a:spcAft>
                <a:spcPts val="500"/>
              </a:spcAft>
              <a:buSzPct val="100000"/>
              <a:buFontTx/>
              <a:buNone/>
            </a:pPr>
            <a:r>
              <a:rPr sz="1200" b="1">
                <a:solidFill>
                  <a:srgbClr val="384653"/>
                </a:solidFill>
                <a:latin typeface="Montserrat"/>
              </a:rPr>
              <a:t>LabSentinel turns reactive maintenance into predictive, proactive care.</a:t>
            </a:r>
            <a:endParaRPr lang="en-US" sz="1200" dirty="0">
              <a:solidFill>
                <a:prstClr val="black"/>
              </a:solidFill>
            </a:endParaRPr>
          </a:p>
          <a:p>
            <a:pPr>
              <a:spcBef>
                <a:spcPts val="0"/>
              </a:spcBef>
              <a:spcAft>
                <a:spcPts val="500"/>
              </a:spcAft>
              <a:buNone/>
            </a:pPr>
            <a:r>
              <a:rPr sz="1200" b="0">
                <a:solidFill>
                  <a:srgbClr val="384653"/>
                </a:solidFill>
                <a:latin typeface="Montserrat"/>
              </a:rPr>
              <a:t>It scores real failure risk with a trained model, explains every alert, and ranks it by patient impact.</a:t>
            </a:r>
          </a:p>
          <a:p>
            <a:pPr>
              <a:spcBef>
                <a:spcPts val="0"/>
              </a:spcBef>
              <a:spcAft>
                <a:spcPts val="500"/>
              </a:spcAft>
              <a:buNone/>
            </a:pPr>
            <a:r>
              <a:rPr sz="1200" b="0">
                <a:solidFill>
                  <a:srgbClr val="384653"/>
                </a:solidFill>
                <a:latin typeface="Montserrat"/>
              </a:rPr>
              <a:t>It projects remaining life, drafts the work order, and remembers what fixed the problem last time.</a:t>
            </a:r>
          </a:p>
          <a:p>
            <a:pPr>
              <a:spcBef>
                <a:spcPts val="0"/>
              </a:spcBef>
              <a:spcAft>
                <a:spcPts val="500"/>
              </a:spcAft>
              <a:buNone/>
            </a:pPr>
            <a:r>
              <a:rPr sz="1200" b="0">
                <a:solidFill>
                  <a:srgbClr val="384653"/>
                </a:solidFill>
                <a:latin typeface="Montserrat"/>
              </a:rPr>
              <a:t>The result is less downtime, safer patients, and one live view of the whole fleet.</a:t>
            </a:r>
          </a:p>
          <a:p>
            <a:pPr>
              <a:spcBef>
                <a:spcPts val="0"/>
              </a:spcBef>
              <a:spcAft>
                <a:spcPts val="500"/>
              </a:spcAft>
              <a:buNone/>
            </a:pPr>
            <a:r>
              <a:rPr sz="1200" b="1">
                <a:solidFill>
                  <a:srgbClr val="384653"/>
                </a:solidFill>
                <a:latin typeface="Montserrat"/>
              </a:rPr>
              <a:t>Built in 48 hours, honest about its numbers, and ready to extend.</a:t>
            </a:r>
          </a:p>
        </p:txBody>
      </p:sp>
      <p:sp>
        <p:nvSpPr>
          <p:cNvPr id="4" name="Date Placeholder 3"/>
          <p:cNvSpPr>
            <a:spLocks noGrp="1"/>
          </p:cNvSpPr>
          <p:nvPr>
            <p:ph type="dt" sz="half" idx="10"/>
          </p:nvPr>
        </p:nvSpPr>
        <p:spPr/>
        <p:txBody>
          <a:bodyPr/>
          <a:lstStyle/>
          <a:p>
            <a:fld id="{D8535B24-D40A-4667-9DF4-E9AE2B60D39A}" type="datetime3">
              <a:rPr lang="en-US" smtClean="0"/>
              <a:t>31 August 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10"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Tree>
    <p:extLst>
      <p:ext uri="{BB962C8B-B14F-4D97-AF65-F5344CB8AC3E}">
        <p14:creationId xmlns:p14="http://schemas.microsoft.com/office/powerpoint/2010/main" val="162722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885950"/>
            <a:ext cx="8229600" cy="971550"/>
          </a:xfrm>
        </p:spPr>
        <p:txBody>
          <a:bodyPr/>
          <a:lstStyle/>
          <a:p>
            <a:r>
              <a:rPr lang="en-IN" dirty="0" smtClean="0">
                <a:solidFill>
                  <a:schemeClr val="accent1">
                    <a:lumMod val="75000"/>
                  </a:schemeClr>
                </a:solidFill>
                <a:latin typeface="Times New Roman" panose="02020603050405020304" pitchFamily="18" charset="0"/>
                <a:cs typeface="Times New Roman" panose="02020603050405020304" pitchFamily="18" charset="0"/>
              </a:rPr>
              <a:t>Thank You</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fld id="{8FD46FD1-89A1-4A16-B7FB-CE4A4C85D393}" type="datetime3">
              <a:rPr lang="en-US" smtClean="0"/>
              <a:t>31 August 2026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7"/>
          <p:cNvSpPr>
            <a:spLocks noGrp="1"/>
          </p:cNvSpPr>
          <p:nvPr>
            <p:ph type="ftr" sz="quarter" idx="11"/>
          </p:nvPr>
        </p:nvSpPr>
        <p:spPr>
          <a:xfrm>
            <a:off x="2743200" y="4767263"/>
            <a:ext cx="3657600" cy="273844"/>
          </a:xfrm>
        </p:spPr>
        <p:txBody>
          <a:bodyPr/>
          <a:lstStyle/>
          <a:p>
            <a:r>
              <a:rPr lang="en-US" dirty="0" smtClean="0"/>
              <a:t>Smart Horizon 2026: 48 Hour International Hackathon</a:t>
            </a:r>
            <a:endParaRPr lang="en-US" dirty="0"/>
          </a:p>
        </p:txBody>
      </p:sp>
      <p:sp>
        <p:nvSpPr>
          <p:cNvPr id="10" name="TextBox 9"/>
          <p:cNvSpPr txBox="1"/>
          <p:nvPr/>
        </p:nvSpPr>
        <p:spPr>
          <a:xfrm>
            <a:off x="384048" y="2880360"/>
            <a:ext cx="8229600" cy="457200"/>
          </a:xfrm>
          <a:prstGeom prst="rect">
            <a:avLst/>
          </a:prstGeom>
          <a:noFill/>
        </p:spPr>
        <p:txBody>
          <a:bodyPr wrap="none">
            <a:spAutoFit/>
          </a:bodyPr>
          <a:lstStyle/>
          <a:p>
            <a:pPr algn="ctr"/>
            <a:r>
              <a:rPr sz="1600" b="1">
                <a:solidFill>
                  <a:srgbClr val="1F497D"/>
                </a:solidFill>
                <a:latin typeface="Montserrat"/>
              </a:rPr>
              <a:t>Team Ctrl+R   |   REVA University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282</Words>
  <Application>Microsoft Office PowerPoint</Application>
  <PresentationFormat>On-screen Show (16:9)</PresentationFormat>
  <Paragraphs>87</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Barlow Bold</vt:lpstr>
      <vt:lpstr>Calibri</vt:lpstr>
      <vt:lpstr>Montserrat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Suchith</dc:creator>
  <cp:lastModifiedBy>Admin</cp:lastModifiedBy>
  <cp:revision>20</cp:revision>
  <dcterms:created xsi:type="dcterms:W3CDTF">2006-08-16T00:00:00Z</dcterms:created>
  <dcterms:modified xsi:type="dcterms:W3CDTF">2026-08-31T11:33:38Z</dcterms:modified>
</cp:coreProperties>
</file>